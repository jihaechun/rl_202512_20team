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69" r:id="rId4"/>
    <p:sldId id="257" r:id="rId5"/>
    <p:sldId id="258" r:id="rId6"/>
    <p:sldId id="272" r:id="rId7"/>
    <p:sldId id="274" r:id="rId8"/>
    <p:sldId id="267" r:id="rId9"/>
    <p:sldId id="268" r:id="rId10"/>
    <p:sldId id="270" r:id="rId11"/>
    <p:sldId id="276" r:id="rId12"/>
    <p:sldId id="277" r:id="rId13"/>
    <p:sldId id="278" r:id="rId14"/>
    <p:sldId id="279" r:id="rId15"/>
    <p:sldId id="280" r:id="rId16"/>
    <p:sldId id="281" r:id="rId17"/>
    <p:sldId id="283" r:id="rId18"/>
  </p:sldIdLst>
  <p:sldSz cx="14630400" cy="8229600"/>
  <p:notesSz cx="8229600" cy="14630400"/>
  <p:embeddedFontLst>
    <p:embeddedFont>
      <p:font typeface="Inter Light" panose="020B0600000101010101" charset="0"/>
      <p:regular r:id="rId20"/>
    </p:embeddedFont>
    <p:embeddedFont>
      <p:font typeface="Montserrat Medium" panose="00000600000000000000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57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8A00D-DB87-643F-A8E1-7AF15E7B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A2D62-78D2-1F61-1FF7-794BF142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2217F-E25D-7AB5-7E37-73C14C231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FEE2-C90B-AEB4-669D-F58B4CE0A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4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981A-90A0-0F89-43E1-66A936B4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DF3A4-0BF7-2978-2EB8-018F3062B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85F59-8CC6-2B66-6ABF-201213F8C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528E-3FA0-45DA-D910-0E9EFE0D4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0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1530-ED32-FB53-FF60-3E4FB318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91626-EB58-5534-BAE1-74A5C3BD8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B39F8-A0BD-6689-AFB7-06DCC2477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38022-B9D6-B654-7955-F24931CF6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76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9BB0-4F57-A0B6-0587-BCC8B9A8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44796-27F1-B53C-7B4C-0E3F4C1D2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3ACE9-704C-2D35-60B5-FEDDB816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BA2D6-0238-3EED-4AF5-434569BCC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68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9A22-A273-B8A7-9A28-0802A892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C562-C89E-BA78-7A6E-C794DCDDC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F7249-27F2-1A1B-B185-96FA5AF44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43B11-7F69-A635-F9E2-075A23A2C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90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3B24-56F0-163C-4469-B4CF59F7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CAD8C-E175-FAF5-78D6-BD9C91315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DB93E-CC08-CE71-2FD0-36EBE651F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099C-691E-FA68-6FBC-A7E2E9899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55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F555-70B3-C6A0-85D3-D8786B39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39DD8-9C16-7988-ABDF-95CAE740B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1DEDE-5E93-CCA0-39F4-65F166D8B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B45B3-82EE-3F6C-7BD2-31D2313B5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5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F3E0-DC63-3613-7052-45DBA423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3485B-818A-B17F-27E4-B35CA88F0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B02C5-56D2-D934-ED8E-FBD81DA55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71B2A-81A2-85D4-B3B4-00CB781A7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69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CCA9-0614-0506-BB63-608DBC36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9C036-7398-1D2F-F89C-7D4E8FAD5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5FA1C-EC37-7A15-3A69-56D7110D6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2A589-CA7F-57A8-530D-AE49F009B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78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881D-9C8D-021D-0C64-6E724FFCC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06113-75A6-F6C1-67C0-99E03CDC0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E829-DAD7-BF9A-CF98-9E6C1D804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E512A-A5E7-B24C-C06D-EF6B0167B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34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B15E-9300-1F94-2C62-8AF5A4FF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AFBD1-DD82-5D8C-5649-BB03AF7F9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35A48-845E-0A35-3379-23E027264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A2352-5EA9-984F-AAB2-D34673E86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49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B92B-CAB8-4544-B36C-58CDDDB0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3A749-601F-0B35-461B-B798E37CD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49020-123A-B6C6-71D1-CFA267F62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D618F-E8A8-9FB9-EB6E-10357E6B2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9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ADF02-84C9-1F6D-79E9-B72B4260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EC5FF-9BCE-88CA-1958-30856EB3C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B0012-87E1-FAB8-1C9F-32B6AE2F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1DB2-52CE-A3A0-0A68-EA1DC9249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21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1D45-EED9-8597-9831-2C1F8FA6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41AC9-EFA6-1FDB-32DA-D6F4B6587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4AB72-85CE-8EF7-DD3C-32165ED12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DB2BF-BF58-DD6C-BF3D-A3CEDBBBF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1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8D769B6B-491D-9675-62F6-7715113C0C14}"/>
              </a:ext>
            </a:extLst>
          </p:cNvPr>
          <p:cNvSpPr/>
          <p:nvPr/>
        </p:nvSpPr>
        <p:spPr>
          <a:xfrm>
            <a:off x="543522" y="2676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강화학습 기반</a:t>
            </a:r>
            <a:endParaRPr lang="en-US" altLang="ko-KR" sz="445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자동차보험 갱신 발송정책 최적화</a:t>
            </a:r>
            <a:endParaRPr lang="en-US" sz="44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E2D8A32-88DB-F717-0736-ECBFBDA3130A}"/>
              </a:ext>
            </a:extLst>
          </p:cNvPr>
          <p:cNvSpPr/>
          <p:nvPr/>
        </p:nvSpPr>
        <p:spPr>
          <a:xfrm>
            <a:off x="5611525" y="6128652"/>
            <a:ext cx="3365033" cy="1295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sz="2400" dirty="0" err="1">
                <a:solidFill>
                  <a:srgbClr val="74767D"/>
                </a:solidFill>
                <a:latin typeface="Montserrat Medium" pitchFamily="34" charset="0"/>
              </a:rPr>
              <a:t>팀명</a:t>
            </a:r>
            <a:r>
              <a:rPr lang="ko-KR" altLang="en-US" sz="2400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en-US" altLang="ko-KR" sz="2400" dirty="0">
                <a:solidFill>
                  <a:srgbClr val="74767D"/>
                </a:solidFill>
                <a:latin typeface="Montserrat Medium" pitchFamily="34" charset="0"/>
              </a:rPr>
              <a:t>: </a:t>
            </a:r>
            <a:r>
              <a:rPr lang="ko-KR" altLang="en-US" sz="2400" dirty="0" err="1">
                <a:solidFill>
                  <a:srgbClr val="74767D"/>
                </a:solidFill>
                <a:latin typeface="Montserrat Medium" pitchFamily="34" charset="0"/>
              </a:rPr>
              <a:t>갱신고객구해조</a:t>
            </a:r>
            <a:endParaRPr lang="en-US" altLang="ko-KR" sz="24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0" indent="0" algn="l">
              <a:buNone/>
            </a:pPr>
            <a:r>
              <a:rPr lang="ko-KR" altLang="en-US" sz="2400" dirty="0">
                <a:solidFill>
                  <a:srgbClr val="74767D"/>
                </a:solidFill>
                <a:latin typeface="Montserrat Medium" pitchFamily="34" charset="0"/>
              </a:rPr>
              <a:t>팀원 </a:t>
            </a:r>
            <a:r>
              <a:rPr lang="en-US" altLang="ko-KR" sz="2400" dirty="0">
                <a:solidFill>
                  <a:srgbClr val="74767D"/>
                </a:solidFill>
                <a:latin typeface="Montserrat Medium" pitchFamily="34" charset="0"/>
              </a:rPr>
              <a:t>: </a:t>
            </a:r>
            <a:r>
              <a:rPr lang="ko-KR" altLang="en-US" sz="2400" dirty="0">
                <a:solidFill>
                  <a:srgbClr val="74767D"/>
                </a:solidFill>
                <a:latin typeface="Montserrat Medium" pitchFamily="34" charset="0"/>
              </a:rPr>
              <a:t>전지혜</a:t>
            </a:r>
            <a:r>
              <a:rPr lang="en-US" altLang="ko-KR" sz="2400" dirty="0">
                <a:solidFill>
                  <a:srgbClr val="74767D"/>
                </a:solidFill>
                <a:latin typeface="Montserrat Medium" pitchFamily="34" charset="0"/>
              </a:rPr>
              <a:t>(A69047)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74767D"/>
                </a:solidFill>
                <a:latin typeface="Montserrat Medium" pitchFamily="34" charset="0"/>
              </a:rPr>
              <a:t>          </a:t>
            </a:r>
            <a:r>
              <a:rPr lang="ko-KR" altLang="en-US" sz="2400" dirty="0">
                <a:solidFill>
                  <a:srgbClr val="74767D"/>
                </a:solidFill>
                <a:latin typeface="Montserrat Medium" pitchFamily="34" charset="0"/>
              </a:rPr>
              <a:t>이상준</a:t>
            </a:r>
            <a:r>
              <a:rPr lang="en-US" altLang="ko-KR" sz="2400" dirty="0">
                <a:solidFill>
                  <a:srgbClr val="74767D"/>
                </a:solidFill>
                <a:latin typeface="Montserrat Medium" pitchFamily="34" charset="0"/>
              </a:rPr>
              <a:t>(A69039)</a:t>
            </a:r>
          </a:p>
          <a:p>
            <a:r>
              <a:rPr lang="en-US" sz="2400" dirty="0" err="1"/>
              <a:t>Github</a:t>
            </a:r>
            <a:r>
              <a:rPr lang="en-US" sz="2400" dirty="0"/>
              <a:t> : https://github.com/JihaeChun/RL_202512_20team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4190-CDD6-7212-7506-8A915007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44949746-4B71-6707-4115-E2398A1CDFDF}"/>
              </a:ext>
            </a:extLst>
          </p:cNvPr>
          <p:cNvSpPr/>
          <p:nvPr/>
        </p:nvSpPr>
        <p:spPr>
          <a:xfrm>
            <a:off x="54352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/>
              <a:t>목 차</a:t>
            </a:r>
            <a:endParaRPr lang="en-US" sz="445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426CB2A-1FC4-4DB5-903F-8AF792F038A7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5CB3DCD9-B121-9EE3-83D3-FC7D9A864BC9}"/>
              </a:ext>
            </a:extLst>
          </p:cNvPr>
          <p:cNvSpPr/>
          <p:nvPr/>
        </p:nvSpPr>
        <p:spPr>
          <a:xfrm>
            <a:off x="895485" y="2370386"/>
            <a:ext cx="7261298" cy="500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팀원 소개</a:t>
            </a:r>
            <a:endParaRPr lang="en-US" altLang="ko-KR" sz="28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프로젝트 주제 및 목표</a:t>
            </a:r>
            <a:endParaRPr lang="en-US" altLang="ko-KR" sz="28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데이터 설명</a:t>
            </a:r>
            <a:endParaRPr lang="en-US" altLang="ko-KR" sz="28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초기 시도</a:t>
            </a:r>
            <a:r>
              <a:rPr lang="en-US" altLang="ko-KR" sz="2800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  <a:r>
              <a:rPr lang="en-US" altLang="ko-KR" sz="2800" dirty="0">
                <a:solidFill>
                  <a:srgbClr val="0070C0"/>
                </a:solidFill>
                <a:latin typeface="Montserrat Medium" pitchFamily="34" charset="0"/>
              </a:rPr>
              <a:t>Q-Learning</a:t>
            </a:r>
          </a:p>
          <a:p>
            <a:pPr marL="457200" indent="-457200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개선</a:t>
            </a:r>
            <a:r>
              <a:rPr lang="en-US" altLang="ko-KR" sz="2800" dirty="0">
                <a:solidFill>
                  <a:srgbClr val="74767D"/>
                </a:solidFill>
                <a:latin typeface="Montserrat Medium" pitchFamily="34" charset="0"/>
              </a:rPr>
              <a:t>: Multi-step </a:t>
            </a:r>
            <a:r>
              <a:rPr lang="en-US" altLang="ko-KR" sz="2800" dirty="0">
                <a:solidFill>
                  <a:srgbClr val="0070C0"/>
                </a:solidFill>
                <a:latin typeface="Montserrat Medium" pitchFamily="34" charset="0"/>
              </a:rPr>
              <a:t>MDP</a:t>
            </a:r>
            <a:r>
              <a:rPr lang="en-US" altLang="ko-KR" sz="2800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설계</a:t>
            </a:r>
            <a:endParaRPr lang="en-US" altLang="ko-KR" sz="28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 err="1">
                <a:solidFill>
                  <a:srgbClr val="74767D"/>
                </a:solidFill>
                <a:latin typeface="Montserrat Medium" pitchFamily="34" charset="0"/>
              </a:rPr>
              <a:t>머신러닝을</a:t>
            </a: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 활용한 </a:t>
            </a:r>
            <a:r>
              <a:rPr lang="en-US" altLang="ko-KR" sz="2800" dirty="0">
                <a:solidFill>
                  <a:srgbClr val="74767D"/>
                </a:solidFill>
                <a:latin typeface="Montserrat Medium" pitchFamily="34" charset="0"/>
              </a:rPr>
              <a:t>DQN</a:t>
            </a:r>
          </a:p>
          <a:p>
            <a:pPr marL="457200" indent="-457200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sz="2800" dirty="0">
                <a:solidFill>
                  <a:srgbClr val="74767D"/>
                </a:solidFill>
                <a:latin typeface="Montserrat Medium" pitchFamily="34" charset="0"/>
              </a:rPr>
              <a:t>프로젝트 결론</a:t>
            </a:r>
            <a:endParaRPr lang="en-US" altLang="ko-KR" sz="2800" dirty="0">
              <a:solidFill>
                <a:srgbClr val="74767D"/>
              </a:solidFill>
              <a:latin typeface="Montserrat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66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82AD-8335-888B-05CE-BDC12DF0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832CE736-EC0C-92C2-1EE0-558387574A46}"/>
              </a:ext>
            </a:extLst>
          </p:cNvPr>
          <p:cNvSpPr/>
          <p:nvPr/>
        </p:nvSpPr>
        <p:spPr>
          <a:xfrm>
            <a:off x="54352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팀원 소개</a:t>
            </a:r>
            <a:endParaRPr lang="en-US" sz="445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F1F13AD-78EB-742A-A736-AF3BAC486E10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D6F57822-91F8-33B0-5E49-1C1D8802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847" y="2532643"/>
            <a:ext cx="2097036" cy="202746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563B45-7D11-81EF-AAB2-25C10969B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343" y="2348784"/>
            <a:ext cx="2095500" cy="2276475"/>
          </a:xfrm>
          <a:prstGeom prst="rect">
            <a:avLst/>
          </a:prstGeom>
        </p:spPr>
      </p:pic>
      <p:sp>
        <p:nvSpPr>
          <p:cNvPr id="4" name="Text Placeholder 125">
            <a:extLst>
              <a:ext uri="{FF2B5EF4-FFF2-40B4-BE49-F238E27FC236}">
                <a16:creationId xmlns:a16="http://schemas.microsoft.com/office/drawing/2014/main" id="{FA5A0F7B-EA29-2CA7-5578-EAD0B90EDBBB}"/>
              </a:ext>
            </a:extLst>
          </p:cNvPr>
          <p:cNvSpPr txBox="1">
            <a:spLocks/>
          </p:cNvSpPr>
          <p:nvPr/>
        </p:nvSpPr>
        <p:spPr>
          <a:xfrm>
            <a:off x="8321769" y="4482385"/>
            <a:ext cx="1600200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400" b="1" kern="1200" cap="all" spc="0" baseline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이상준</a:t>
            </a:r>
            <a:endParaRPr lang="en-US" dirty="0"/>
          </a:p>
        </p:txBody>
      </p:sp>
      <p:sp>
        <p:nvSpPr>
          <p:cNvPr id="5" name="Text Placeholder 125">
            <a:extLst>
              <a:ext uri="{FF2B5EF4-FFF2-40B4-BE49-F238E27FC236}">
                <a16:creationId xmlns:a16="http://schemas.microsoft.com/office/drawing/2014/main" id="{5E901DC6-4F39-2E37-D3D3-83F29F94BABD}"/>
              </a:ext>
            </a:extLst>
          </p:cNvPr>
          <p:cNvSpPr txBox="1">
            <a:spLocks/>
          </p:cNvSpPr>
          <p:nvPr/>
        </p:nvSpPr>
        <p:spPr>
          <a:xfrm>
            <a:off x="3828953" y="4482385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400" b="1" kern="1200" cap="all" spc="0" baseline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전지혜</a:t>
            </a:r>
            <a:endParaRPr lang="en-US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B9FE1E2-4036-EC0A-7D72-C763A9BC2EFE}"/>
              </a:ext>
            </a:extLst>
          </p:cNvPr>
          <p:cNvSpPr/>
          <p:nvPr/>
        </p:nvSpPr>
        <p:spPr>
          <a:xfrm>
            <a:off x="3579941" y="5973728"/>
            <a:ext cx="2191487" cy="59993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txBody>
          <a:bodyPr wrap="none" lIns="0" tIns="0" rIns="0" bIns="0" rtlCol="0" anchor="t"/>
          <a:lstStyle/>
          <a:p>
            <a:pPr algn="ctr"/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pPr algn="ctr"/>
            <a:r>
              <a:rPr lang="en-US" altLang="ko-KR" dirty="0">
                <a:solidFill>
                  <a:srgbClr val="74767D"/>
                </a:solidFill>
                <a:latin typeface="+mn-ea"/>
              </a:rPr>
              <a:t>Q-learning &amp; MDP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43C6587-D39E-F56A-4E59-730C334A1859}"/>
              </a:ext>
            </a:extLst>
          </p:cNvPr>
          <p:cNvSpPr/>
          <p:nvPr/>
        </p:nvSpPr>
        <p:spPr>
          <a:xfrm>
            <a:off x="8392420" y="5973728"/>
            <a:ext cx="1704050" cy="59993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txBody>
          <a:bodyPr wrap="none" lIns="0" tIns="0" rIns="0" bIns="0" rtlCol="0" anchor="t"/>
          <a:lstStyle/>
          <a:p>
            <a:pPr algn="ctr"/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pPr algn="ctr"/>
            <a:r>
              <a:rPr lang="en-US" altLang="ko-KR" dirty="0">
                <a:solidFill>
                  <a:srgbClr val="74767D"/>
                </a:solidFill>
                <a:latin typeface="+mn-ea"/>
              </a:rPr>
              <a:t>DQN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68A8E7D-D694-9693-B04E-C08CAC8294AD}"/>
              </a:ext>
            </a:extLst>
          </p:cNvPr>
          <p:cNvSpPr/>
          <p:nvPr/>
        </p:nvSpPr>
        <p:spPr>
          <a:xfrm>
            <a:off x="3579941" y="4932529"/>
            <a:ext cx="6507573" cy="599931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txBody>
          <a:bodyPr wrap="none" lIns="0" tIns="0" rIns="0" bIns="0" rtlCol="0" anchor="t"/>
          <a:lstStyle/>
          <a:p>
            <a:pPr algn="ctr"/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pPr algn="ctr"/>
            <a:r>
              <a:rPr lang="ko-KR" altLang="en-US" dirty="0">
                <a:solidFill>
                  <a:srgbClr val="74767D"/>
                </a:solidFill>
                <a:latin typeface="+mn-ea"/>
              </a:rPr>
              <a:t>프로젝트 배경 및 주제 선정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A338C55-625E-147A-F095-61A5B95940BB}"/>
              </a:ext>
            </a:extLst>
          </p:cNvPr>
          <p:cNvSpPr/>
          <p:nvPr/>
        </p:nvSpPr>
        <p:spPr>
          <a:xfrm>
            <a:off x="3579941" y="5567719"/>
            <a:ext cx="6507573" cy="33715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txBody>
          <a:bodyPr wrap="none" lIns="0" tIns="0" rIns="0" bIns="0" rtlCol="0" anchor="t"/>
          <a:lstStyle/>
          <a:p>
            <a:pPr algn="ctr"/>
            <a:r>
              <a:rPr lang="en-US" altLang="ko-KR" dirty="0">
                <a:solidFill>
                  <a:srgbClr val="74767D"/>
                </a:solidFill>
                <a:latin typeface="+mn-ea"/>
              </a:rPr>
              <a:t>DATA 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작업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E705511-D49E-B2C3-4A53-470A20272AF2}"/>
              </a:ext>
            </a:extLst>
          </p:cNvPr>
          <p:cNvSpPr/>
          <p:nvPr/>
        </p:nvSpPr>
        <p:spPr>
          <a:xfrm>
            <a:off x="3579941" y="6648479"/>
            <a:ext cx="6507573" cy="33715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txBody>
          <a:bodyPr wrap="none" lIns="0" tIns="0" rIns="0" bIns="0" rtlCol="0" anchor="t"/>
          <a:lstStyle/>
          <a:p>
            <a:pPr algn="ctr"/>
            <a:r>
              <a:rPr lang="ko-KR" altLang="en-US" dirty="0">
                <a:solidFill>
                  <a:srgbClr val="74767D"/>
                </a:solidFill>
                <a:latin typeface="+mn-ea"/>
              </a:rPr>
              <a:t>프로젝트 결과 공유 및 결론 도출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870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118" y="2213810"/>
            <a:ext cx="5188017" cy="5188017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37A47DE7-2012-7A3F-AAE7-3D27A9B2D309}"/>
              </a:ext>
            </a:extLst>
          </p:cNvPr>
          <p:cNvSpPr/>
          <p:nvPr/>
        </p:nvSpPr>
        <p:spPr>
          <a:xfrm>
            <a:off x="54352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프로젝트 주제 및 목표</a:t>
            </a:r>
            <a:endParaRPr lang="en-US" sz="44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631622A-8B03-61D8-5683-D07A7774DA0D}"/>
              </a:ext>
            </a:extLst>
          </p:cNvPr>
          <p:cNvSpPr/>
          <p:nvPr/>
        </p:nvSpPr>
        <p:spPr>
          <a:xfrm>
            <a:off x="525540" y="2196695"/>
            <a:ext cx="8958702" cy="5274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74767D"/>
                </a:solidFill>
                <a:latin typeface="Montserrat Medium" pitchFamily="34" charset="0"/>
              </a:rPr>
              <a:t>프로젝트 주제</a:t>
            </a:r>
            <a:endParaRPr lang="en-US" altLang="ko-KR" sz="2000" b="1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: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자동차보험 재가입 가능성을 높이기 위해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Montserrat Medium" pitchFamily="34" charset="0"/>
              </a:rPr>
              <a:t>“</a:t>
            </a:r>
            <a:r>
              <a:rPr lang="ko-KR" altLang="en-US" b="1" dirty="0">
                <a:solidFill>
                  <a:srgbClr val="0070C0"/>
                </a:solidFill>
                <a:latin typeface="Montserrat Medium" pitchFamily="34" charset="0"/>
              </a:rPr>
              <a:t>언제</a:t>
            </a:r>
            <a:r>
              <a:rPr lang="en-US" altLang="ko-KR" b="1" dirty="0">
                <a:solidFill>
                  <a:srgbClr val="0070C0"/>
                </a:solidFill>
                <a:latin typeface="Montserrat Medium" pitchFamily="34" charset="0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Montserrat Medium" pitchFamily="34" charset="0"/>
              </a:rPr>
              <a:t>어떤 캠페인을 보내야 </a:t>
            </a:r>
            <a:endParaRPr lang="en-US" altLang="ko-KR" b="1" dirty="0">
              <a:solidFill>
                <a:srgbClr val="0070C0"/>
              </a:solidFill>
              <a:latin typeface="Montserrat Medium" pitchFamily="34" charset="0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Montserrat Medium" pitchFamily="34" charset="0"/>
              </a:rPr>
              <a:t>   </a:t>
            </a:r>
            <a:r>
              <a:rPr lang="ko-KR" altLang="en-US" b="1" dirty="0">
                <a:solidFill>
                  <a:srgbClr val="0070C0"/>
                </a:solidFill>
                <a:latin typeface="Montserrat Medium" pitchFamily="34" charset="0"/>
              </a:rPr>
              <a:t>고객이 더 갱신할까</a:t>
            </a:r>
            <a:r>
              <a:rPr lang="en-US" altLang="ko-KR" b="1" dirty="0">
                <a:solidFill>
                  <a:srgbClr val="0070C0"/>
                </a:solidFill>
                <a:latin typeface="Montserrat Medium" pitchFamily="34" charset="0"/>
              </a:rPr>
              <a:t>?”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만기 전 최적 발송 시점 및 캠페인 조합을 찾는 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정책 학습을 통해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갱신율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극대화</a:t>
            </a:r>
            <a:endParaRPr lang="en-US" altLang="ko-KR" b="1" dirty="0">
              <a:solidFill>
                <a:srgbClr val="0070C0"/>
              </a:solidFill>
              <a:latin typeface="Montserrat Medium" pitchFamily="34" charset="0"/>
            </a:endParaRPr>
          </a:p>
          <a:p>
            <a:endParaRPr lang="en-US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74767D"/>
                </a:solidFill>
                <a:latin typeface="Montserrat Medium" pitchFamily="34" charset="0"/>
              </a:rPr>
              <a:t>프로젝트 배경</a:t>
            </a:r>
            <a:endParaRPr lang="en-US" altLang="ko-KR" sz="2000" b="1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: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자동차보험은 계약 갱신 기반 상품으로 만기 고객 확보가 매출과 직결됨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. </a:t>
            </a: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이에 만기 전 캠페인 발송은 기존 고객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유지율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향상에 핵심 역할을 하지만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과도한 발송은 고객 피로도 증가 및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비용 손실 초래함으로 현재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푸쉬마케팅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정책은 아래와 같은 이슈가 있음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.</a:t>
            </a:r>
            <a:b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</a:b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-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정해진 일정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(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일괄 발송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)</a:t>
            </a:r>
            <a:b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</a:b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-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고객 특성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·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반응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·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시점별 최적화 부족</a:t>
            </a: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en-US" altLang="ko-KR" dirty="0">
                <a:solidFill>
                  <a:srgbClr val="0070C0"/>
                </a:solidFill>
                <a:latin typeface="Montserrat Medium" pitchFamily="34" charset="0"/>
              </a:rPr>
              <a:t>▶</a:t>
            </a:r>
            <a:r>
              <a:rPr lang="ko-KR" altLang="en-US" dirty="0">
                <a:solidFill>
                  <a:srgbClr val="0070C0"/>
                </a:solidFill>
                <a:latin typeface="Montserrat Medium" pitchFamily="34" charset="0"/>
              </a:rPr>
              <a:t>이에 </a:t>
            </a:r>
            <a:r>
              <a:rPr lang="en-US" altLang="ko-KR" dirty="0">
                <a:solidFill>
                  <a:srgbClr val="0070C0"/>
                </a:solidFill>
                <a:latin typeface="Montserrat Medium" pitchFamily="34" charset="0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Montserrat Medium" pitchFamily="34" charset="0"/>
              </a:rPr>
              <a:t>고객별 특성과 발송 이력을 반영하여 “언제</a:t>
            </a:r>
            <a:r>
              <a:rPr lang="en-US" altLang="ko-KR" dirty="0">
                <a:solidFill>
                  <a:srgbClr val="0070C0"/>
                </a:solidFill>
                <a:latin typeface="Montserrat Medium" pitchFamily="34" charset="0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Montserrat Medium" pitchFamily="34" charset="0"/>
              </a:rPr>
              <a:t>어떤 캠페인을 보내야 가장 </a:t>
            </a:r>
            <a:endParaRPr lang="en-US" altLang="ko-KR" dirty="0">
              <a:solidFill>
                <a:srgbClr val="0070C0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Montserrat Medium" pitchFamily="34" charset="0"/>
              </a:rPr>
              <a:t>       </a:t>
            </a:r>
            <a:r>
              <a:rPr lang="ko-KR" altLang="en-US" dirty="0">
                <a:solidFill>
                  <a:srgbClr val="0070C0"/>
                </a:solidFill>
                <a:latin typeface="Montserrat Medium" pitchFamily="34" charset="0"/>
              </a:rPr>
              <a:t>효과적인지” 데이터 기반의 발송모델이 필요</a:t>
            </a:r>
            <a:endParaRPr lang="en-US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b="1" dirty="0">
                <a:solidFill>
                  <a:srgbClr val="74767D"/>
                </a:solidFill>
                <a:latin typeface="Montserrat Medium" pitchFamily="34" charset="0"/>
              </a:rPr>
              <a:t>프로젝트 분석대상</a:t>
            </a:r>
            <a:endParaRPr lang="en-US" altLang="ko-KR" sz="2000" b="1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: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자동차보험 만기 계약 대상</a:t>
            </a:r>
            <a:endParaRPr lang="en-US" altLang="ko-KR" dirty="0"/>
          </a:p>
          <a:p>
            <a:endParaRPr lang="en-US" sz="20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57B081D-FC44-1F42-AFB4-4C3D74D6EDB5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280190" y="2349241"/>
            <a:ext cx="3664744" cy="2648783"/>
          </a:xfrm>
          <a:prstGeom prst="roundRect">
            <a:avLst>
              <a:gd name="adj" fmla="val 77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514624" y="2593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고객</a:t>
            </a:r>
            <a:r>
              <a:rPr lang="ko-KR" alt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특성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200" b="1" dirty="0" err="1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데이터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6514624" y="3083719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성별, 연령대, 결혼여부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3525917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자녀운전여부, 차종코드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3968115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이전유입채널, 신규/갱신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14624" y="4410313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갱신연차, 만기일자, 갱신여부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2358866"/>
            <a:ext cx="3664863" cy="2648783"/>
          </a:xfrm>
          <a:prstGeom prst="roundRect">
            <a:avLst>
              <a:gd name="adj" fmla="val 77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406182" y="2593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발송</a:t>
            </a:r>
            <a:r>
              <a:rPr lang="ko-KR" alt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이력</a:t>
            </a: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</a:t>
            </a:r>
            <a:r>
              <a:rPr lang="en-US" sz="2200" b="1" dirty="0" err="1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데이터</a:t>
            </a:r>
            <a:endParaRPr lang="en-US" sz="2200" b="1" dirty="0"/>
          </a:p>
        </p:txBody>
      </p:sp>
      <p:sp>
        <p:nvSpPr>
          <p:cNvPr id="13" name="Text 10"/>
          <p:cNvSpPr/>
          <p:nvPr/>
        </p:nvSpPr>
        <p:spPr>
          <a:xfrm>
            <a:off x="10406182" y="305428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캠페인번호, 캠페인명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406182" y="349648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만기까지 남은 일수(D-day)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406182" y="3938684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클릭여부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80190" y="5234463"/>
            <a:ext cx="7556421" cy="2542749"/>
          </a:xfrm>
          <a:prstGeom prst="roundRect">
            <a:avLst>
              <a:gd name="adj" fmla="val 1211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514624" y="5468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데이터 결합</a:t>
            </a:r>
            <a:endParaRPr lang="en-US" sz="2200" b="1" dirty="0"/>
          </a:p>
        </p:txBody>
      </p:sp>
      <p:sp>
        <p:nvSpPr>
          <p:cNvPr id="18" name="Text 15"/>
          <p:cNvSpPr/>
          <p:nvPr/>
        </p:nvSpPr>
        <p:spPr>
          <a:xfrm>
            <a:off x="6514624" y="595931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KEY</a:t>
            </a:r>
            <a:r>
              <a:rPr lang="ko-KR" alt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값기준으로</a:t>
            </a:r>
            <a:endParaRPr lang="en-US" altLang="ko-KR" sz="1750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고객</a:t>
            </a:r>
            <a:r>
              <a:rPr lang="ko-KR" alt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특성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정보와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발송</a:t>
            </a:r>
            <a:r>
              <a:rPr lang="ko-KR" alt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이력을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ko-KR" alt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결합</a:t>
            </a:r>
            <a:r>
              <a:rPr lang="en-US" sz="175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하여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75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분석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데이터셋 구성</a:t>
            </a:r>
            <a:endParaRPr lang="en-US" sz="175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59761803-F8F2-EFE1-9D27-328F7A946C0B}"/>
              </a:ext>
            </a:extLst>
          </p:cNvPr>
          <p:cNvSpPr/>
          <p:nvPr/>
        </p:nvSpPr>
        <p:spPr>
          <a:xfrm>
            <a:off x="622244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0070C0"/>
                </a:solidFill>
                <a:latin typeface="Montserrat Medium" pitchFamily="34" charset="0"/>
              </a:rPr>
              <a:t>데이터</a:t>
            </a: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 설명</a:t>
            </a:r>
            <a:endParaRPr lang="en-US" sz="4450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58E919B-F4F2-161D-91C9-6D5C9653B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092021"/>
              </p:ext>
            </p:extLst>
          </p:nvPr>
        </p:nvGraphicFramePr>
        <p:xfrm>
          <a:off x="6542336" y="6883060"/>
          <a:ext cx="4992302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787327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1204975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bg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Train(70%)</a:t>
                      </a:r>
                      <a:endParaRPr lang="ko-KR" altLang="en-US" sz="1600" b="0" kern="1200" dirty="0">
                        <a:solidFill>
                          <a:schemeClr val="bg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Test(30%)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</a:tbl>
          </a:graphicData>
        </a:graphic>
      </p:graphicFrame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82C4651-8387-DEE3-38EE-9E82E09545ED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5CDA-5402-4581-E032-C50C509F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2D8F111-D2EB-4BDE-9A28-81A586A1EDFD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D0D045A-3F54-83B8-EA4D-AA50A3D6F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62" t="-96" r="25335" b="96"/>
          <a:stretch>
            <a:fillRect/>
          </a:stretch>
        </p:blipFill>
        <p:spPr>
          <a:xfrm>
            <a:off x="9134404" y="-7878"/>
            <a:ext cx="5486400" cy="823747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32C5EFF-4167-3FF6-2159-774D4035DCC1}"/>
              </a:ext>
            </a:extLst>
          </p:cNvPr>
          <p:cNvSpPr/>
          <p:nvPr/>
        </p:nvSpPr>
        <p:spPr>
          <a:xfrm>
            <a:off x="493777" y="12810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초기 시도</a:t>
            </a:r>
            <a:r>
              <a:rPr lang="en-US" altLang="ko-KR" sz="4450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단일 </a:t>
            </a:r>
            <a:r>
              <a:rPr lang="en-US" altLang="ko-KR" sz="4450" dirty="0">
                <a:solidFill>
                  <a:srgbClr val="74767D"/>
                </a:solidFill>
                <a:latin typeface="Montserrat Medium" pitchFamily="34" charset="0"/>
              </a:rPr>
              <a:t>Step </a:t>
            </a:r>
            <a:r>
              <a:rPr lang="en-US" altLang="ko-KR" sz="4450" dirty="0">
                <a:solidFill>
                  <a:srgbClr val="0070C0"/>
                </a:solidFill>
                <a:latin typeface="Montserrat Medium" pitchFamily="34" charset="0"/>
              </a:rPr>
              <a:t>Q-learning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8BAB610-0ECA-4FE2-F032-CA971FB52C7F}"/>
              </a:ext>
            </a:extLst>
          </p:cNvPr>
          <p:cNvSpPr/>
          <p:nvPr/>
        </p:nvSpPr>
        <p:spPr>
          <a:xfrm>
            <a:off x="789262" y="2196467"/>
            <a:ext cx="5798257" cy="462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Montserrat Medium" pitchFamily="34" charset="0"/>
              </a:rPr>
              <a:t>Q-learning</a:t>
            </a:r>
            <a:endParaRPr lang="en-US" altLang="ko-KR" sz="900" b="1" dirty="0">
              <a:latin typeface="Montserrat Medium" pitchFamily="34" charset="0"/>
            </a:endParaRPr>
          </a:p>
          <a:p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: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어떤 행동이 좋은 행동인지 직접 해보면서 배우는 방법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sz="2000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ko-KR" altLang="en-US" sz="2000" b="1" u="sng" dirty="0">
                <a:latin typeface="Montserrat Medium" pitchFamily="34" charset="0"/>
              </a:rPr>
              <a:t>학습방법</a:t>
            </a:r>
            <a:r>
              <a:rPr lang="ko-KR" altLang="en-US" sz="2000" dirty="0">
                <a:latin typeface="Montserrat Medium" pitchFamily="34" charset="0"/>
              </a:rPr>
              <a:t> </a:t>
            </a:r>
            <a:endParaRPr lang="en-US" altLang="ko-KR" sz="2000" dirty="0">
              <a:latin typeface="Montserrat Medium" pitchFamily="34" charset="0"/>
            </a:endParaRPr>
          </a:p>
          <a:p>
            <a:endParaRPr lang="en-US" altLang="ko-KR" sz="900" dirty="0">
              <a:latin typeface="Montserrat Medium" pitchFamily="34" charset="0"/>
            </a:endParaRPr>
          </a:p>
          <a:p>
            <a:r>
              <a:rPr lang="en-US" altLang="ko-KR" sz="2000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“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어떤 상태에서 가장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Q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값이 높은 행동을 선택하는 정책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”</a:t>
            </a:r>
          </a:p>
          <a:p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step1)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아무것도 모른 상태에서 시작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step2)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상태에서 행동을 선택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step3)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갱신성공하면 보상을 받고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step4) Q(s, a)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를 업데이트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step5) step2-4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를 반복 → 최적 정책에 수렴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3589E3E-DD47-F6B6-40EB-15301B678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47350"/>
              </p:ext>
            </p:extLst>
          </p:nvPr>
        </p:nvGraphicFramePr>
        <p:xfrm>
          <a:off x="988828" y="3366172"/>
          <a:ext cx="4992302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3955983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State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현재 상황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(D-day +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고객특성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발송이력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Action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선택 가능한 액션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캠페인 발송 종류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Reward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최종 갱신 성공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+1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29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Policy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어떤 캠페인을 보내나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7437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5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EE6E-E2F9-5409-D9CF-B585856A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4B0F629-77BE-8283-6F5A-74F3E044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62" t="-96" r="25335" b="96"/>
          <a:stretch>
            <a:fillRect/>
          </a:stretch>
        </p:blipFill>
        <p:spPr>
          <a:xfrm>
            <a:off x="9134404" y="-7878"/>
            <a:ext cx="5486400" cy="823747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8A109FA-288E-D622-61F0-0AA7FE2314B0}"/>
              </a:ext>
            </a:extLst>
          </p:cNvPr>
          <p:cNvGrpSpPr/>
          <p:nvPr/>
        </p:nvGrpSpPr>
        <p:grpSpPr>
          <a:xfrm>
            <a:off x="1267041" y="5656980"/>
            <a:ext cx="5932641" cy="1302088"/>
            <a:chOff x="8312748" y="6552128"/>
            <a:chExt cx="6662618" cy="1677472"/>
          </a:xfrm>
        </p:grpSpPr>
        <p:sp>
          <p:nvSpPr>
            <p:cNvPr id="4" name="Shape 9">
              <a:extLst>
                <a:ext uri="{FF2B5EF4-FFF2-40B4-BE49-F238E27FC236}">
                  <a16:creationId xmlns:a16="http://schemas.microsoft.com/office/drawing/2014/main" id="{F9ADC8D2-C0B4-459E-E9A8-3173B0D8D274}"/>
                </a:ext>
              </a:extLst>
            </p:cNvPr>
            <p:cNvSpPr/>
            <p:nvPr/>
          </p:nvSpPr>
          <p:spPr>
            <a:xfrm>
              <a:off x="8335608" y="6552128"/>
              <a:ext cx="6639758" cy="1677472"/>
            </a:xfrm>
            <a:prstGeom prst="roundRect">
              <a:avLst>
                <a:gd name="adj" fmla="val 6541"/>
              </a:avLst>
            </a:prstGeom>
            <a:solidFill>
              <a:srgbClr val="FFFFFF"/>
            </a:solidFill>
            <a:ln w="22860">
              <a:solidFill>
                <a:srgbClr val="4950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10">
              <a:extLst>
                <a:ext uri="{FF2B5EF4-FFF2-40B4-BE49-F238E27FC236}">
                  <a16:creationId xmlns:a16="http://schemas.microsoft.com/office/drawing/2014/main" id="{5949BD0A-5F8C-7F69-D63C-0EF4E69DEA93}"/>
                </a:ext>
              </a:extLst>
            </p:cNvPr>
            <p:cNvSpPr/>
            <p:nvPr/>
          </p:nvSpPr>
          <p:spPr>
            <a:xfrm>
              <a:off x="8312748" y="6552128"/>
              <a:ext cx="91440" cy="1677472"/>
            </a:xfrm>
            <a:prstGeom prst="roundRect">
              <a:avLst>
                <a:gd name="adj" fmla="val 166235"/>
              </a:avLst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8C968B19-E517-E5E1-2B33-9B846054BD13}"/>
              </a:ext>
            </a:extLst>
          </p:cNvPr>
          <p:cNvSpPr/>
          <p:nvPr/>
        </p:nvSpPr>
        <p:spPr>
          <a:xfrm>
            <a:off x="1238166" y="1280465"/>
            <a:ext cx="5798257" cy="462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+mn-ea"/>
              </a:rPr>
              <a:t>TD Error </a:t>
            </a:r>
            <a:r>
              <a:rPr lang="ko-KR" altLang="en-US" b="1" dirty="0">
                <a:latin typeface="+mn-ea"/>
              </a:rPr>
              <a:t>학습 곡선 그래프</a:t>
            </a:r>
            <a:endParaRPr lang="en-US" altLang="ko-KR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0" b="1" dirty="0">
              <a:latin typeface="+mn-ea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+mn-ea"/>
              </a:rPr>
              <a:t>Test data</a:t>
            </a:r>
            <a:r>
              <a:rPr lang="ko-KR" altLang="en-US" b="1" dirty="0">
                <a:latin typeface="+mn-ea"/>
              </a:rPr>
              <a:t> 결과</a:t>
            </a:r>
            <a:endParaRPr lang="en-US" altLang="ko-KR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ACDE9A-68B8-8769-B63C-D2EF27FA8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5"/>
          <a:stretch>
            <a:fillRect/>
          </a:stretch>
        </p:blipFill>
        <p:spPr>
          <a:xfrm>
            <a:off x="1584671" y="1928177"/>
            <a:ext cx="2922270" cy="1854551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FDCCFA3C-6C60-A64E-AF43-E53897860ED0}"/>
              </a:ext>
            </a:extLst>
          </p:cNvPr>
          <p:cNvSpPr/>
          <p:nvPr/>
        </p:nvSpPr>
        <p:spPr>
          <a:xfrm>
            <a:off x="4603567" y="1777510"/>
            <a:ext cx="2836747" cy="201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ko-KR" altLang="en-US" dirty="0" err="1">
                <a:solidFill>
                  <a:srgbClr val="74767D"/>
                </a:solidFill>
                <a:latin typeface="+mn-ea"/>
              </a:rPr>
              <a:t>에폭이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 증가할수록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+mn-ea"/>
              </a:rPr>
              <a:t>Average |TD error|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가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줄어들면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 </a:t>
            </a: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→ 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Q(</a:t>
            </a:r>
            <a:r>
              <a:rPr lang="en-US" altLang="ko-KR" dirty="0" err="1">
                <a:solidFill>
                  <a:srgbClr val="74767D"/>
                </a:solidFill>
                <a:latin typeface="+mn-ea"/>
              </a:rPr>
              <a:t>s,a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가 점점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안정적으로 수렴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65AA65-38DB-5822-4F16-D5158BA1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625051"/>
              </p:ext>
            </p:extLst>
          </p:nvPr>
        </p:nvGraphicFramePr>
        <p:xfrm>
          <a:off x="1660393" y="4317476"/>
          <a:ext cx="2141572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46422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895150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실제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Q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평균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0.548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최적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Q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평균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0.562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실제갱신율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0.814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294917"/>
                  </a:ext>
                </a:extLst>
              </a:tr>
            </a:tbl>
          </a:graphicData>
        </a:graphic>
      </p:graphicFrame>
      <p:sp>
        <p:nvSpPr>
          <p:cNvPr id="13" name="Text 0">
            <a:extLst>
              <a:ext uri="{FF2B5EF4-FFF2-40B4-BE49-F238E27FC236}">
                <a16:creationId xmlns:a16="http://schemas.microsoft.com/office/drawing/2014/main" id="{D681EF71-0DFC-CAA0-4B4A-5ED15A29370F}"/>
              </a:ext>
            </a:extLst>
          </p:cNvPr>
          <p:cNvSpPr/>
          <p:nvPr/>
        </p:nvSpPr>
        <p:spPr>
          <a:xfrm>
            <a:off x="3865878" y="4159507"/>
            <a:ext cx="3496522" cy="123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altLang="ko-KR" sz="9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학습된 정책이 기존 행동보다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더 높은 기대 갱신 보상을 갖는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것을 알 수 있음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.</a:t>
            </a:r>
          </a:p>
          <a:p>
            <a:endParaRPr lang="ko-KR" altLang="en-US" dirty="0">
              <a:solidFill>
                <a:srgbClr val="74767D"/>
              </a:solidFill>
              <a:latin typeface="+mn-ea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6A61D5EF-4A5E-0D43-C887-67B6813C1DE5}"/>
              </a:ext>
            </a:extLst>
          </p:cNvPr>
          <p:cNvSpPr/>
          <p:nvPr/>
        </p:nvSpPr>
        <p:spPr>
          <a:xfrm>
            <a:off x="1621892" y="5789360"/>
            <a:ext cx="5414531" cy="948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현재 모델은 </a:t>
            </a:r>
            <a:r>
              <a:rPr lang="ko-KR" altLang="en-US" u="sng" dirty="0">
                <a:solidFill>
                  <a:srgbClr val="74767D"/>
                </a:solidFill>
                <a:latin typeface="+mn-ea"/>
              </a:rPr>
              <a:t>시간 흐름</a:t>
            </a:r>
            <a:r>
              <a:rPr lang="en-US" altLang="ko-KR" u="sng" dirty="0">
                <a:solidFill>
                  <a:srgbClr val="74767D"/>
                </a:solidFill>
                <a:latin typeface="+mn-ea"/>
              </a:rPr>
              <a:t>(D-day)</a:t>
            </a:r>
            <a:r>
              <a:rPr lang="ko-KR" altLang="en-US" u="sng" dirty="0">
                <a:solidFill>
                  <a:srgbClr val="74767D"/>
                </a:solidFill>
                <a:latin typeface="+mn-ea"/>
              </a:rPr>
              <a:t>과 발송 누적 효과를 </a:t>
            </a:r>
            <a:endParaRPr lang="en-US" altLang="ko-KR" u="sng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u="sng" dirty="0">
                <a:solidFill>
                  <a:srgbClr val="74767D"/>
                </a:solidFill>
                <a:latin typeface="+mn-ea"/>
              </a:rPr>
              <a:t>반영하지 못함</a:t>
            </a:r>
            <a:r>
              <a:rPr lang="en-US" altLang="ko-KR" u="sng" dirty="0">
                <a:solidFill>
                  <a:srgbClr val="74767D"/>
                </a:solidFill>
                <a:latin typeface="+mn-ea"/>
              </a:rPr>
              <a:t>.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 "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언제 보내는지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"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와 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"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얼마나 자주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보내는지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"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를 함께 고려하는 </a:t>
            </a:r>
            <a:r>
              <a:rPr lang="en-US" altLang="ko-KR" dirty="0">
                <a:solidFill>
                  <a:srgbClr val="74767D"/>
                </a:solidFill>
                <a:latin typeface="+mn-ea"/>
              </a:rPr>
              <a:t>Multi-step MDP </a:t>
            </a:r>
            <a:r>
              <a:rPr lang="ko-KR" altLang="en-US" dirty="0">
                <a:solidFill>
                  <a:srgbClr val="74767D"/>
                </a:solidFill>
                <a:latin typeface="+mn-ea"/>
              </a:rPr>
              <a:t>설계 </a:t>
            </a:r>
            <a:endParaRPr lang="en-US" altLang="ko-KR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+mn-ea"/>
              </a:rPr>
              <a:t>필요성 확인</a:t>
            </a:r>
          </a:p>
        </p:txBody>
      </p:sp>
    </p:spTree>
    <p:extLst>
      <p:ext uri="{BB962C8B-B14F-4D97-AF65-F5344CB8AC3E}">
        <p14:creationId xmlns:p14="http://schemas.microsoft.com/office/powerpoint/2010/main" val="396339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9F1B-A06C-4760-8F4C-2D4652E7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0B4CA85F-3E74-DDBB-8A44-BC2E8DB67F90}"/>
              </a:ext>
            </a:extLst>
          </p:cNvPr>
          <p:cNvSpPr/>
          <p:nvPr/>
        </p:nvSpPr>
        <p:spPr>
          <a:xfrm>
            <a:off x="6066423" y="1947857"/>
            <a:ext cx="7649146" cy="1206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Montserrat Medium" pitchFamily="34" charset="0"/>
              </a:rPr>
              <a:t>Multi-step MDP</a:t>
            </a:r>
            <a:endParaRPr lang="en-US" altLang="ko-KR" sz="900" b="1" dirty="0">
              <a:latin typeface="Montserrat Medium" pitchFamily="34" charset="0"/>
            </a:endParaRPr>
          </a:p>
          <a:p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: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현재 상태에서 어떤 행동을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선택하면다음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상태가 되고 보상이 주어지는 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문제 구조로 상태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행동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보상으로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구성된순차적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의사결정 문제를 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수학적으로 표현한 모델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.</a:t>
            </a:r>
          </a:p>
          <a:p>
            <a:r>
              <a:rPr lang="en-US" altLang="ko-KR" sz="2000" dirty="0">
                <a:solidFill>
                  <a:srgbClr val="74767D"/>
                </a:solidFill>
                <a:latin typeface="Montserrat Medium" pitchFamily="34" charset="0"/>
              </a:rPr>
              <a:t>    *</a:t>
            </a:r>
            <a:r>
              <a:rPr lang="ko-KR" altLang="en-US" sz="2000" dirty="0">
                <a:solidFill>
                  <a:srgbClr val="74767D"/>
                </a:solidFill>
                <a:latin typeface="Montserrat Medium" pitchFamily="34" charset="0"/>
              </a:rPr>
              <a:t>핵심</a:t>
            </a:r>
            <a:r>
              <a:rPr lang="en-US" altLang="ko-KR" sz="2000" dirty="0">
                <a:solidFill>
                  <a:srgbClr val="74767D"/>
                </a:solidFill>
                <a:latin typeface="Montserrat Medium" pitchFamily="34" charset="0"/>
              </a:rPr>
              <a:t>point) </a:t>
            </a:r>
            <a:r>
              <a:rPr lang="ko-KR" altLang="en-US" sz="2000" dirty="0">
                <a:solidFill>
                  <a:srgbClr val="74767D"/>
                </a:solidFill>
                <a:latin typeface="Montserrat Medium" pitchFamily="34" charset="0"/>
              </a:rPr>
              <a:t>시간흐름에 따라 누적효과가 중요한 문제에 최적</a:t>
            </a:r>
            <a:r>
              <a:rPr lang="en-US" altLang="ko-KR" sz="2000" dirty="0">
                <a:solidFill>
                  <a:srgbClr val="74767D"/>
                </a:solidFill>
                <a:latin typeface="Montserrat Medium" pitchFamily="34" charset="0"/>
              </a:rPr>
              <a:t>!</a:t>
            </a: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03425F-F122-E394-DA37-6FE574AA3B14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4295047-9FD2-E33C-B903-3DD859E46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6DC185B4-6940-E4CB-035A-BCEC2CA111F6}"/>
              </a:ext>
            </a:extLst>
          </p:cNvPr>
          <p:cNvSpPr/>
          <p:nvPr/>
        </p:nvSpPr>
        <p:spPr>
          <a:xfrm>
            <a:off x="622244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개선</a:t>
            </a:r>
            <a:r>
              <a:rPr lang="en-US" altLang="ko-KR" sz="4450" dirty="0">
                <a:solidFill>
                  <a:srgbClr val="74767D"/>
                </a:solidFill>
                <a:latin typeface="Montserrat Medium" pitchFamily="34" charset="0"/>
              </a:rPr>
              <a:t>: Multi-step </a:t>
            </a:r>
            <a:r>
              <a:rPr lang="en-US" altLang="ko-KR" sz="4450" dirty="0">
                <a:solidFill>
                  <a:srgbClr val="0070C0"/>
                </a:solidFill>
                <a:latin typeface="Montserrat Medium" pitchFamily="34" charset="0"/>
              </a:rPr>
              <a:t>MDP</a:t>
            </a:r>
            <a:r>
              <a:rPr lang="en-US" altLang="ko-KR" sz="4450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설계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B2B0210-1A95-0A6A-7200-70D397CB2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26583"/>
              </p:ext>
            </p:extLst>
          </p:nvPr>
        </p:nvGraphicFramePr>
        <p:xfrm>
          <a:off x="6222442" y="4823677"/>
          <a:ext cx="7570560" cy="291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6534241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State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현재 상황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(D-day +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고객특성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발송횟수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600" b="0" kern="1200" dirty="0">
                          <a:solidFill>
                            <a:srgbClr val="0070C0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발송간격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>
                          <a:solidFill>
                            <a:srgbClr val="0070C0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600" b="0" kern="1200" dirty="0">
                          <a:solidFill>
                            <a:srgbClr val="0070C0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이전 캠페인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Action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선택 가능한 액션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캠페인 발송 종류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Reward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각 발송 행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마다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아래 기준으로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reward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합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 발송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-0.01</a:t>
                      </a:r>
                    </a:p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캠페인 </a:t>
                      </a:r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연속빌성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-0.05 </a:t>
                      </a:r>
                    </a:p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이전 발송과 일수 차이가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이하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-0.02 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에피소드 마지막 발송 시점에는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+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갱신여부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_num (1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0)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추가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너무 자주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같은 캠페인을 피하는 방향으로 학습</a:t>
                      </a:r>
                      <a:endParaRPr lang="en-US" altLang="ko-KR" sz="16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6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갱신율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반영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29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Episode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고객별 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일간 발송 여정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743731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1BEE295-EC98-8325-194D-3E83F4A28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6720"/>
              </p:ext>
            </p:extLst>
          </p:nvPr>
        </p:nvGraphicFramePr>
        <p:xfrm>
          <a:off x="6222442" y="3962089"/>
          <a:ext cx="7580185" cy="741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87327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3792858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언제 보내야 하는지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어떤 캠페인을 보내야 하는지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중복발송패널티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갱신율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7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88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8459-6609-D7A5-C648-8F0669EA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D2E34F3-E7C4-19B9-943C-EFCB51061EE0}"/>
              </a:ext>
            </a:extLst>
          </p:cNvPr>
          <p:cNvSpPr/>
          <p:nvPr/>
        </p:nvSpPr>
        <p:spPr>
          <a:xfrm>
            <a:off x="5983435" y="664448"/>
            <a:ext cx="5798257" cy="462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+mn-ea"/>
              </a:rPr>
              <a:t>TD Error </a:t>
            </a:r>
            <a:r>
              <a:rPr lang="ko-KR" altLang="en-US" b="1" dirty="0">
                <a:latin typeface="+mn-ea"/>
              </a:rPr>
              <a:t>학습 곡선 그래프</a:t>
            </a:r>
            <a:endParaRPr lang="en-US" altLang="ko-KR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60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50" b="1" dirty="0">
              <a:latin typeface="+mn-ea"/>
            </a:endParaRPr>
          </a:p>
          <a:p>
            <a:pPr algn="l"/>
            <a:endParaRPr lang="en-US" altLang="ko-KR" sz="100" b="1" dirty="0">
              <a:latin typeface="+mn-ea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en-US" altLang="ko-KR" b="1" dirty="0">
                <a:latin typeface="+mn-ea"/>
              </a:rPr>
              <a:t>Test data</a:t>
            </a:r>
            <a:r>
              <a:rPr lang="ko-KR" altLang="en-US" b="1" dirty="0">
                <a:latin typeface="+mn-ea"/>
              </a:rPr>
              <a:t> 결과</a:t>
            </a:r>
            <a:endParaRPr lang="en-US" altLang="ko-KR" b="1" dirty="0">
              <a:latin typeface="+mn-ea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841BC74-EC21-FE92-1D30-F5D7BCB1F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3B2DD66-AE53-EC79-8415-A6A77BB59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790" y="1378591"/>
            <a:ext cx="3384724" cy="250520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03D16976-B8EA-3914-974C-C0A68E7E3BFB}"/>
              </a:ext>
            </a:extLst>
          </p:cNvPr>
          <p:cNvSpPr/>
          <p:nvPr/>
        </p:nvSpPr>
        <p:spPr>
          <a:xfrm>
            <a:off x="9751412" y="1394677"/>
            <a:ext cx="4459270" cy="201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학습 초기에는 보상이 불확실하여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TD error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가 크게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나타났으나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학습이 진행됨에 따라 평균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TD error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가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지속적으로 감소하여 최적 발송 정책이 안정적으로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수렴 확인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. </a:t>
            </a:r>
          </a:p>
          <a:p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이는 어떤 시점에 보내는 것이 갱신에 기여하는지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Q-learning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이 학습하고 있음을 의미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30 epoch 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동안 평균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TD error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가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0.0848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에서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0.0460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으로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지속적으로 감소하여 수렴하는 양상을 보였다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.</a:t>
            </a:r>
            <a:endParaRPr lang="en-US" altLang="ko-KR" sz="3600" dirty="0">
              <a:solidFill>
                <a:srgbClr val="74767D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B1FCA9A-2451-CA7A-7115-9263E47BB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07921"/>
              </p:ext>
            </p:extLst>
          </p:nvPr>
        </p:nvGraphicFramePr>
        <p:xfrm>
          <a:off x="6477802" y="4345806"/>
          <a:ext cx="3667225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89785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1424539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  <a:gridCol w="952901">
                  <a:extLst>
                    <a:ext uri="{9D8B030D-6E8A-4147-A177-3AD203B41FA5}">
                      <a16:colId xmlns:a16="http://schemas.microsoft.com/office/drawing/2014/main" val="2565011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Q-learning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MDP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50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실제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Q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평균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0.548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0.085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최적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Q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평균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0.562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0.101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실제갱신율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Montserrat Medium" pitchFamily="34" charset="0"/>
                          <a:ea typeface="+mn-ea"/>
                          <a:cs typeface="+mn-cs"/>
                        </a:rPr>
                        <a:t>0.814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Montserrat Medium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dirty="0"/>
                        <a:t>0.829</a:t>
                      </a:r>
                      <a:endParaRPr lang="ko-KR" altLang="en-US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9294917"/>
                  </a:ext>
                </a:extLst>
              </a:tr>
            </a:tbl>
          </a:graphicData>
        </a:graphic>
      </p:graphicFrame>
      <p:sp>
        <p:nvSpPr>
          <p:cNvPr id="9" name="Text 0">
            <a:extLst>
              <a:ext uri="{FF2B5EF4-FFF2-40B4-BE49-F238E27FC236}">
                <a16:creationId xmlns:a16="http://schemas.microsoft.com/office/drawing/2014/main" id="{AE7552EB-9894-6115-9CEC-5AE7CD80903F}"/>
              </a:ext>
            </a:extLst>
          </p:cNvPr>
          <p:cNvSpPr/>
          <p:nvPr/>
        </p:nvSpPr>
        <p:spPr>
          <a:xfrm>
            <a:off x="10288821" y="4345806"/>
            <a:ext cx="4459270" cy="201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Test 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데이터에서 실제 발송 캠페인의 평균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기대 보상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(Q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값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0.0852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였으나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, </a:t>
            </a:r>
          </a:p>
          <a:p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Q-learning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이 제안하는 최적 캠페인을 선택할 경우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평균 기대 보상은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0.1009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로 약 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18.5% </a:t>
            </a:r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향상되는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것으로 나타났다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.</a:t>
            </a: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이는 기존 정책보다 강화학습 기반 정책이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갱신 성공 가능성이 높은 행동을 선택한다는 </a:t>
            </a:r>
            <a:endParaRPr lang="en-US" altLang="ko-KR" sz="1400" dirty="0">
              <a:solidFill>
                <a:srgbClr val="74767D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74767D"/>
                </a:solidFill>
                <a:latin typeface="+mn-ea"/>
              </a:rPr>
              <a:t>것을 의미한다</a:t>
            </a:r>
            <a:r>
              <a:rPr lang="en-US" altLang="ko-KR" sz="1400" dirty="0">
                <a:solidFill>
                  <a:srgbClr val="74767D"/>
                </a:solidFill>
                <a:latin typeface="+mn-ea"/>
              </a:rPr>
              <a:t>.</a:t>
            </a:r>
            <a:endParaRPr lang="en-US" altLang="ko-KR" sz="3600" dirty="0">
              <a:solidFill>
                <a:srgbClr val="74767D"/>
              </a:solidFill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F1BE106-A90B-3322-8FA1-9864E65ADCB5}"/>
              </a:ext>
            </a:extLst>
          </p:cNvPr>
          <p:cNvGrpSpPr/>
          <p:nvPr/>
        </p:nvGrpSpPr>
        <p:grpSpPr>
          <a:xfrm>
            <a:off x="6477802" y="6205796"/>
            <a:ext cx="7565457" cy="1600305"/>
            <a:chOff x="8312748" y="6552115"/>
            <a:chExt cx="6662618" cy="1677485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FC7870BA-99F8-A012-48B1-4DB7508B5AC3}"/>
                </a:ext>
              </a:extLst>
            </p:cNvPr>
            <p:cNvSpPr/>
            <p:nvPr/>
          </p:nvSpPr>
          <p:spPr>
            <a:xfrm>
              <a:off x="8335608" y="6552115"/>
              <a:ext cx="6639758" cy="1677471"/>
            </a:xfrm>
            <a:prstGeom prst="roundRect">
              <a:avLst>
                <a:gd name="adj" fmla="val 6541"/>
              </a:avLst>
            </a:prstGeom>
            <a:solidFill>
              <a:srgbClr val="FFFFFF"/>
            </a:solidFill>
            <a:ln w="22860">
              <a:solidFill>
                <a:srgbClr val="4950B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36B7131-E20A-B30B-9302-01BD5DA6A134}"/>
                </a:ext>
              </a:extLst>
            </p:cNvPr>
            <p:cNvSpPr/>
            <p:nvPr/>
          </p:nvSpPr>
          <p:spPr>
            <a:xfrm>
              <a:off x="8312748" y="6552128"/>
              <a:ext cx="91440" cy="1677472"/>
            </a:xfrm>
            <a:prstGeom prst="roundRect">
              <a:avLst>
                <a:gd name="adj" fmla="val 166235"/>
              </a:avLst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D68C2DD-E885-783F-DC6E-32B54E9AE53E}"/>
              </a:ext>
            </a:extLst>
          </p:cNvPr>
          <p:cNvSpPr txBox="1"/>
          <p:nvPr/>
        </p:nvSpPr>
        <p:spPr>
          <a:xfrm>
            <a:off x="6602346" y="6232176"/>
            <a:ext cx="7372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solidFill>
                  <a:srgbClr val="1F1F1F"/>
                </a:solidFill>
                <a:effectLst/>
                <a:latin typeface="+mn-ea"/>
              </a:rPr>
              <a:t>Test Accuracy</a:t>
            </a:r>
          </a:p>
          <a:p>
            <a:r>
              <a:rPr lang="en-US" altLang="ko-KR" sz="1600" dirty="0">
                <a:solidFill>
                  <a:srgbClr val="1F1F1F"/>
                </a:solidFill>
                <a:latin typeface="+mn-ea"/>
              </a:rPr>
              <a:t>= 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+mn-ea"/>
              </a:rPr>
              <a:t>0.3643</a:t>
            </a:r>
          </a:p>
          <a:p>
            <a:r>
              <a:rPr lang="en-US" altLang="ko-KR" sz="1600" dirty="0">
                <a:latin typeface="+mn-ea"/>
              </a:rPr>
              <a:t>36.4%</a:t>
            </a:r>
            <a:r>
              <a:rPr lang="ko-KR" altLang="en-US" sz="1600" dirty="0">
                <a:latin typeface="+mn-ea"/>
              </a:rPr>
              <a:t>로 낮게 나타났지만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이는 데이터의 갱신 편향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실제 </a:t>
            </a:r>
            <a:r>
              <a:rPr lang="ko-KR" altLang="en-US" sz="1600" dirty="0" err="1">
                <a:latin typeface="+mn-ea"/>
              </a:rPr>
              <a:t>갱신률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82.96%)</a:t>
            </a:r>
            <a:r>
              <a:rPr lang="ko-KR" altLang="en-US" sz="1600" dirty="0">
                <a:latin typeface="+mn-ea"/>
              </a:rPr>
              <a:t>에 기인하며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정확도는 강화학습 정책 성능을 평가하는 적절한 지표가 아님</a:t>
            </a:r>
            <a:r>
              <a:rPr lang="en-US" altLang="ko-KR" sz="1600" dirty="0">
                <a:latin typeface="+mn-ea"/>
              </a:rPr>
              <a:t>.</a:t>
            </a:r>
          </a:p>
          <a:p>
            <a:r>
              <a:rPr lang="ko-KR" altLang="en-US" sz="1600" dirty="0">
                <a:latin typeface="+mn-ea"/>
              </a:rPr>
              <a:t>대신 행동가치</a:t>
            </a:r>
            <a:r>
              <a:rPr lang="en-US" altLang="ko-KR" sz="1600" dirty="0">
                <a:latin typeface="+mn-ea"/>
              </a:rPr>
              <a:t>(Q</a:t>
            </a:r>
            <a:r>
              <a:rPr lang="ko-KR" altLang="en-US" sz="1600" dirty="0">
                <a:latin typeface="+mn-ea"/>
              </a:rPr>
              <a:t>값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를 기준으로 평가한 결과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기존 정책 대비 </a:t>
            </a:r>
            <a:r>
              <a:rPr lang="en-US" altLang="ko-KR" sz="1600" dirty="0">
                <a:latin typeface="+mn-ea"/>
              </a:rPr>
              <a:t>+18.5% </a:t>
            </a:r>
            <a:r>
              <a:rPr lang="ko-KR" altLang="en-US" sz="1600" dirty="0">
                <a:latin typeface="+mn-ea"/>
              </a:rPr>
              <a:t>향상된 기대 갱신 기여도를 확인하여 정책 개선 효과가 유효함을 증명</a:t>
            </a:r>
          </a:p>
        </p:txBody>
      </p:sp>
    </p:spTree>
    <p:extLst>
      <p:ext uri="{BB962C8B-B14F-4D97-AF65-F5344CB8AC3E}">
        <p14:creationId xmlns:p14="http://schemas.microsoft.com/office/powerpoint/2010/main" val="197334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A2C0-7609-B104-41DA-CD105B1E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69D02A3-3463-6ED3-E3F5-1AD7922FA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3C1E814-1125-7F6E-50ED-A317B559C7C7}"/>
              </a:ext>
            </a:extLst>
          </p:cNvPr>
          <p:cNvSpPr/>
          <p:nvPr/>
        </p:nvSpPr>
        <p:spPr>
          <a:xfrm>
            <a:off x="5983435" y="664448"/>
            <a:ext cx="8531462" cy="6708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캠페인별 발송시점 </a:t>
            </a:r>
            <a:r>
              <a:rPr lang="ko-KR" altLang="en-US" b="1" dirty="0" err="1">
                <a:latin typeface="+mn-ea"/>
              </a:rPr>
              <a:t>히트맵</a:t>
            </a:r>
            <a:endParaRPr lang="en-US" altLang="ko-KR" b="1" dirty="0">
              <a:latin typeface="+mn-ea"/>
            </a:endParaRPr>
          </a:p>
          <a:p>
            <a:pPr algn="l"/>
            <a:r>
              <a:rPr lang="en-US" altLang="ko-KR" sz="1600" dirty="0">
                <a:latin typeface="+mn-ea"/>
              </a:rPr>
              <a:t>                                                            x</a:t>
            </a:r>
            <a:r>
              <a:rPr lang="ko-KR" altLang="en-US" sz="1600" dirty="0">
                <a:latin typeface="+mn-ea"/>
              </a:rPr>
              <a:t>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만기까지 남은 일수 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                                               (</a:t>
            </a:r>
            <a:r>
              <a:rPr lang="ko-KR" altLang="en-US" sz="1600" dirty="0">
                <a:latin typeface="+mn-ea"/>
              </a:rPr>
              <a:t>왼쪽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만기 근처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오른쪽</a:t>
            </a:r>
            <a:r>
              <a:rPr lang="en-US" altLang="ko-KR" sz="1600" dirty="0">
                <a:latin typeface="+mn-ea"/>
              </a:rPr>
              <a:t>:</a:t>
            </a:r>
            <a:r>
              <a:rPr lang="ko-KR" altLang="en-US" sz="1600" dirty="0">
                <a:latin typeface="+mn-ea"/>
              </a:rPr>
              <a:t> 멀리</a:t>
            </a:r>
            <a:r>
              <a:rPr lang="en-US" altLang="ko-KR" sz="1600" dirty="0">
                <a:latin typeface="+mn-ea"/>
              </a:rPr>
              <a:t>)  </a:t>
            </a:r>
          </a:p>
          <a:p>
            <a:pPr algn="l"/>
            <a:r>
              <a:rPr lang="en-US" altLang="ko-KR" sz="1600" dirty="0">
                <a:latin typeface="+mn-ea"/>
              </a:rPr>
              <a:t>                                                            y</a:t>
            </a:r>
            <a:r>
              <a:rPr lang="ko-KR" altLang="en-US" sz="1600" dirty="0">
                <a:latin typeface="+mn-ea"/>
              </a:rPr>
              <a:t>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캠페인번호 </a:t>
            </a:r>
            <a:endParaRPr lang="en-US" altLang="ko-KR" sz="1600" dirty="0">
              <a:latin typeface="+mn-ea"/>
            </a:endParaRPr>
          </a:p>
          <a:p>
            <a:pPr algn="l"/>
            <a:r>
              <a:rPr lang="ko-KR" altLang="en-US" sz="1600" dirty="0">
                <a:latin typeface="+mn-ea"/>
              </a:rPr>
              <a:t>                                                            색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해당시점에 해당캠페인을 보냈을 때의 </a:t>
            </a:r>
            <a:endParaRPr lang="en-US" altLang="ko-KR" sz="1600" dirty="0">
              <a:latin typeface="+mn-ea"/>
            </a:endParaRPr>
          </a:p>
          <a:p>
            <a:pPr algn="l"/>
            <a:r>
              <a:rPr lang="en-US" altLang="ko-KR" sz="1600" dirty="0">
                <a:latin typeface="+mn-ea"/>
              </a:rPr>
              <a:t>                                                                  </a:t>
            </a:r>
            <a:r>
              <a:rPr lang="ko-KR" altLang="en-US" sz="1600" dirty="0">
                <a:latin typeface="+mn-ea"/>
              </a:rPr>
              <a:t>기대 갱신 보상</a:t>
            </a:r>
            <a:endParaRPr lang="en-US" altLang="ko-KR" sz="1600" dirty="0">
              <a:latin typeface="+mn-ea"/>
            </a:endParaRPr>
          </a:p>
          <a:p>
            <a:pPr algn="l"/>
            <a:r>
              <a:rPr lang="en-US" altLang="ko-KR" sz="1600" dirty="0">
                <a:latin typeface="+mn-ea"/>
              </a:rPr>
              <a:t>                                                             (Q, </a:t>
            </a:r>
            <a:r>
              <a:rPr lang="ko-KR" altLang="en-US" sz="1600" dirty="0">
                <a:latin typeface="+mn-ea"/>
              </a:rPr>
              <a:t>높은 구간에 그 캠페인 발송 효과 좋음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algn="l"/>
            <a:endParaRPr lang="ko-KR" altLang="en-US" sz="1600" dirty="0">
              <a:latin typeface="+mn-ea"/>
            </a:endParaRPr>
          </a:p>
          <a:p>
            <a:pPr algn="l"/>
            <a:endParaRPr lang="en-US" altLang="ko-KR" sz="1600" dirty="0">
              <a:latin typeface="+mn-ea"/>
            </a:endParaRPr>
          </a:p>
          <a:p>
            <a:pPr algn="l"/>
            <a:r>
              <a:rPr lang="ko-KR" altLang="en-US" sz="1600" dirty="0">
                <a:latin typeface="+mn-ea"/>
              </a:rPr>
              <a:t>“</a:t>
            </a:r>
            <a:r>
              <a:rPr lang="en-US" altLang="ko-KR" sz="1600" dirty="0">
                <a:latin typeface="+mn-ea"/>
              </a:rPr>
              <a:t>D-day</a:t>
            </a:r>
            <a:r>
              <a:rPr lang="ko-KR" altLang="en-US" sz="1600" dirty="0">
                <a:latin typeface="+mn-ea"/>
              </a:rPr>
              <a:t>와 캠페인별 </a:t>
            </a:r>
            <a:r>
              <a:rPr lang="en-US" altLang="ko-KR" sz="1600" dirty="0">
                <a:latin typeface="+mn-ea"/>
              </a:rPr>
              <a:t>Q</a:t>
            </a:r>
            <a:r>
              <a:rPr lang="ko-KR" altLang="en-US" sz="1600" dirty="0">
                <a:latin typeface="+mn-ea"/>
              </a:rPr>
              <a:t>값을 </a:t>
            </a:r>
            <a:r>
              <a:rPr lang="ko-KR" altLang="en-US" sz="1600" dirty="0" err="1">
                <a:latin typeface="+mn-ea"/>
              </a:rPr>
              <a:t>히트맵으로</a:t>
            </a:r>
            <a:r>
              <a:rPr lang="ko-KR" altLang="en-US" sz="1600" dirty="0">
                <a:latin typeface="+mn-ea"/>
              </a:rPr>
              <a:t> 시각화한 결과</a:t>
            </a:r>
            <a:r>
              <a:rPr lang="en-US" altLang="ko-KR" sz="1600" dirty="0">
                <a:latin typeface="+mn-ea"/>
              </a:rPr>
              <a:t>, </a:t>
            </a:r>
          </a:p>
          <a:p>
            <a:pPr algn="l"/>
            <a:r>
              <a:rPr lang="ko-KR" altLang="en-US" sz="1600" dirty="0">
                <a:latin typeface="+mn-ea"/>
              </a:rPr>
              <a:t>특정 캠페인은 만기 </a:t>
            </a:r>
            <a:r>
              <a:rPr lang="en-US" altLang="ko-KR" sz="1600" dirty="0">
                <a:latin typeface="+mn-ea"/>
              </a:rPr>
              <a:t>20</a:t>
            </a:r>
            <a:r>
              <a:rPr lang="ko-KR" altLang="en-US" sz="1600" dirty="0">
                <a:latin typeface="+mn-ea"/>
              </a:rPr>
              <a:t>일 전</a:t>
            </a:r>
            <a:r>
              <a:rPr lang="en-US" altLang="ko-KR" sz="1600" dirty="0">
                <a:latin typeface="+mn-ea"/>
              </a:rPr>
              <a:t>~10</a:t>
            </a:r>
            <a:r>
              <a:rPr lang="ko-KR" altLang="en-US" sz="1600" dirty="0">
                <a:latin typeface="+mn-ea"/>
              </a:rPr>
              <a:t>일 전 구간에서 높은 기대 보상을 보였고</a:t>
            </a:r>
            <a:r>
              <a:rPr lang="en-US" altLang="ko-KR" sz="1600" dirty="0">
                <a:latin typeface="+mn-ea"/>
              </a:rPr>
              <a:t>, </a:t>
            </a:r>
          </a:p>
          <a:p>
            <a:pPr algn="l"/>
            <a:r>
              <a:rPr lang="ko-KR" altLang="en-US" sz="1600" dirty="0">
                <a:latin typeface="+mn-ea"/>
              </a:rPr>
              <a:t>일부 캠페인은 만기 직전</a:t>
            </a:r>
            <a:r>
              <a:rPr lang="en-US" altLang="ko-KR" sz="1600" dirty="0">
                <a:latin typeface="+mn-ea"/>
              </a:rPr>
              <a:t>(7</a:t>
            </a:r>
            <a:r>
              <a:rPr lang="ko-KR" altLang="en-US" sz="1600" dirty="0">
                <a:latin typeface="+mn-ea"/>
              </a:rPr>
              <a:t>일 이내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에서만 효과가 두드러지는 패턴을 확인할 수 있음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b="1" dirty="0">
              <a:latin typeface="+mn-ea"/>
            </a:endParaRPr>
          </a:p>
          <a:p>
            <a:pPr algn="l"/>
            <a:endParaRPr lang="en-US" altLang="ko-KR" sz="100" b="1" dirty="0">
              <a:latin typeface="+mn-ea"/>
            </a:endParaRPr>
          </a:p>
          <a:p>
            <a:pPr marL="457200" indent="-457200" algn="l">
              <a:lnSpc>
                <a:spcPts val="5550"/>
              </a:lnSpc>
              <a:buFont typeface="Wingdings" panose="05000000000000000000" pitchFamily="2" charset="2"/>
              <a:buChar char="Ø"/>
            </a:pPr>
            <a:r>
              <a:rPr lang="ko-KR" altLang="en-US" b="1" dirty="0">
                <a:latin typeface="+mn-ea"/>
              </a:rPr>
              <a:t>구간별 최적 발송 캠페인 </a:t>
            </a:r>
            <a:endParaRPr lang="en-US" altLang="ko-KR" b="1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                                               D-day</a:t>
            </a:r>
            <a:r>
              <a:rPr lang="ko-KR" altLang="en-US" sz="1600" dirty="0">
                <a:latin typeface="+mn-ea"/>
              </a:rPr>
              <a:t>를 몇 개 구간</a:t>
            </a:r>
            <a:r>
              <a:rPr lang="en-US" altLang="ko-KR" sz="1600" dirty="0">
                <a:latin typeface="+mn-ea"/>
              </a:rPr>
              <a:t>(bucket)</a:t>
            </a:r>
            <a:r>
              <a:rPr lang="ko-KR" altLang="en-US" sz="1600" dirty="0">
                <a:latin typeface="+mn-ea"/>
              </a:rPr>
              <a:t>으로 쪼개고</a:t>
            </a:r>
          </a:p>
          <a:p>
            <a:r>
              <a:rPr lang="en-US" altLang="ko-KR" sz="1600" dirty="0">
                <a:latin typeface="+mn-ea"/>
              </a:rPr>
              <a:t>                                                                (</a:t>
            </a: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0~3, 4~7, 8~14, 15~30, 31~45)</a:t>
            </a:r>
          </a:p>
          <a:p>
            <a:r>
              <a:rPr lang="en-US" altLang="ko-KR" sz="1600" dirty="0">
                <a:latin typeface="+mn-ea"/>
              </a:rPr>
              <a:t>                                                                </a:t>
            </a:r>
            <a:r>
              <a:rPr lang="ko-KR" altLang="en-US" sz="1600" dirty="0">
                <a:latin typeface="+mn-ea"/>
              </a:rPr>
              <a:t>각 캠페인별로 구간 내 평균 </a:t>
            </a:r>
            <a:r>
              <a:rPr lang="en-US" altLang="ko-KR" sz="1600" dirty="0">
                <a:latin typeface="+mn-ea"/>
              </a:rPr>
              <a:t>Q</a:t>
            </a:r>
            <a:r>
              <a:rPr lang="ko-KR" altLang="en-US" sz="1600" dirty="0">
                <a:latin typeface="+mn-ea"/>
              </a:rPr>
              <a:t>값 계산</a:t>
            </a:r>
          </a:p>
          <a:p>
            <a:r>
              <a:rPr lang="en-US" altLang="ko-KR" sz="1600" dirty="0">
                <a:latin typeface="+mn-ea"/>
              </a:rPr>
              <a:t>                                                                </a:t>
            </a:r>
            <a:r>
              <a:rPr lang="ko-KR" altLang="en-US" sz="1600" dirty="0">
                <a:latin typeface="+mn-ea"/>
              </a:rPr>
              <a:t>상위 몇 개 캠페인만 뽑아서 그래프로 비교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B3EEC3-4B94-6DDF-FCCF-1F78392A3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436" y="1323490"/>
            <a:ext cx="4142342" cy="194625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A8D32A8-A8B1-FEC4-22AE-BD5625384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436" y="4752974"/>
            <a:ext cx="4363724" cy="28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8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7785-07FB-C7EB-6B1A-273989FF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7B7823-7C63-6E47-1832-18AF46F8EE8F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E6A268F9-5D25-DF65-1A35-0E3C837F48B0}"/>
              </a:ext>
            </a:extLst>
          </p:cNvPr>
          <p:cNvSpPr/>
          <p:nvPr/>
        </p:nvSpPr>
        <p:spPr>
          <a:xfrm>
            <a:off x="428262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Montserrat Medium" pitchFamily="34" charset="0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Montserrat Medium" pitchFamily="34" charset="0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Montserrat Medium" pitchFamily="34" charset="0"/>
              </a:rPr>
              <a:t>DQN </a:t>
            </a:r>
            <a:r>
              <a:rPr lang="en-US" altLang="ko-KR" sz="2800" dirty="0">
                <a:solidFill>
                  <a:srgbClr val="0070C0"/>
                </a:solidFill>
                <a:latin typeface="Montserrat Medium" pitchFamily="34" charset="0"/>
              </a:rPr>
              <a:t>(</a:t>
            </a:r>
            <a:r>
              <a:rPr lang="ko-KR" altLang="en-US" sz="2800" dirty="0">
                <a:solidFill>
                  <a:srgbClr val="0070C0"/>
                </a:solidFill>
                <a:latin typeface="Montserrat Medium" pitchFamily="34" charset="0"/>
              </a:rPr>
              <a:t>요약</a:t>
            </a:r>
            <a:r>
              <a:rPr lang="en-US" altLang="ko-KR" sz="2800" dirty="0">
                <a:solidFill>
                  <a:srgbClr val="0070C0"/>
                </a:solidFill>
                <a:latin typeface="Montserrat Medium" pitchFamily="34" charset="0"/>
              </a:rPr>
              <a:t>)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C88C91F-ACE8-C0FE-5E06-9849224C501E}"/>
              </a:ext>
            </a:extLst>
          </p:cNvPr>
          <p:cNvSpPr/>
          <p:nvPr/>
        </p:nvSpPr>
        <p:spPr>
          <a:xfrm>
            <a:off x="4467656" y="2243315"/>
            <a:ext cx="9186228" cy="2141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Montserrat Medium" pitchFamily="34" charset="0"/>
              </a:rPr>
              <a:t>학습목적</a:t>
            </a:r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앞선 학습에서는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“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언제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,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어떤 문자유형을 보내야 고객의 갱신을 높이는 것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”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에 집중</a:t>
            </a:r>
            <a:endParaRPr lang="en-US" altLang="ko-KR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하지만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갱신뿐만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아니라 고객의 문자 클릭 또한 마케팅적으로 중요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!!</a:t>
            </a:r>
          </a:p>
          <a:p>
            <a:pPr>
              <a:spcBef>
                <a:spcPts val="200"/>
              </a:spcBef>
            </a:pP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또한 문자비용이 제한적이므로 얼마나 </a:t>
            </a:r>
            <a:r>
              <a:rPr lang="ko-KR" altLang="en-US" dirty="0" err="1">
                <a:solidFill>
                  <a:srgbClr val="74767D"/>
                </a:solidFill>
                <a:latin typeface="Montserrat Medium" pitchFamily="34" charset="0"/>
              </a:rPr>
              <a:t>보낼지도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중요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!!</a:t>
            </a:r>
          </a:p>
          <a:p>
            <a:pPr>
              <a:spcBef>
                <a:spcPts val="600"/>
              </a:spcBef>
            </a:pP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“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언제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, 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얼마나 문자를 보내야 </a:t>
            </a:r>
            <a:r>
              <a:rPr lang="ko-KR" altLang="en-US" sz="2000" b="1" baseline="30000" dirty="0">
                <a:solidFill>
                  <a:srgbClr val="0000FF"/>
                </a:solidFill>
                <a:latin typeface="Montserrat Medium" pitchFamily="34" charset="0"/>
              </a:rPr>
              <a:t>비용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효율적으로 고객의 갱신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,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클릭횟수를 높일까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?</a:t>
            </a: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0BB7214-18F4-A736-C4B0-6C3FCE7AA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4800" cy="823817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609DB36-19D5-1AE0-66F7-186A6AB79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92" y="2243315"/>
            <a:ext cx="9756000" cy="112090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F5867BC6-7D0C-EEE2-D31C-B9AD3770D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92" y="4445415"/>
            <a:ext cx="9756000" cy="112090"/>
          </a:xfrm>
          <a:prstGeom prst="rect">
            <a:avLst/>
          </a:prstGeom>
        </p:spPr>
      </p:pic>
      <p:pic>
        <p:nvPicPr>
          <p:cNvPr id="6" name="Image 7" descr="preencoded.png">
            <a:extLst>
              <a:ext uri="{FF2B5EF4-FFF2-40B4-BE49-F238E27FC236}">
                <a16:creationId xmlns:a16="http://schemas.microsoft.com/office/drawing/2014/main" id="{F1189FEB-CDF0-0267-24F8-4998F91F8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92" y="5590876"/>
            <a:ext cx="9756000" cy="112090"/>
          </a:xfrm>
          <a:prstGeom prst="rect">
            <a:avLst/>
          </a:prstGeom>
        </p:spPr>
      </p:pic>
      <p:pic>
        <p:nvPicPr>
          <p:cNvPr id="8" name="Image 10" descr="preencoded.png">
            <a:extLst>
              <a:ext uri="{FF2B5EF4-FFF2-40B4-BE49-F238E27FC236}">
                <a16:creationId xmlns:a16="http://schemas.microsoft.com/office/drawing/2014/main" id="{E9595C0F-4A3B-0456-E3FF-45EB5B850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92" y="6807457"/>
            <a:ext cx="9756000" cy="11209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365185-B282-E262-B4C7-C7CBAE596399}"/>
              </a:ext>
            </a:extLst>
          </p:cNvPr>
          <p:cNvSpPr/>
          <p:nvPr/>
        </p:nvSpPr>
        <p:spPr>
          <a:xfrm>
            <a:off x="4467656" y="4480994"/>
            <a:ext cx="9186228" cy="104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Montserrat Medium" pitchFamily="34" charset="0"/>
              </a:rPr>
              <a:t>해결책</a:t>
            </a:r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en-US" altLang="ko-KR" sz="2000" b="1" dirty="0">
                <a:latin typeface="Montserrat Medium" pitchFamily="34" charset="0"/>
              </a:rPr>
              <a:t>-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 DQN 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강화학습으로 비용 대비 효과적인 발송정책 자동학습</a:t>
            </a: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39A4B80C-2F05-2355-964F-05F2B4E890DA}"/>
              </a:ext>
            </a:extLst>
          </p:cNvPr>
          <p:cNvSpPr/>
          <p:nvPr/>
        </p:nvSpPr>
        <p:spPr>
          <a:xfrm>
            <a:off x="4467656" y="5656567"/>
            <a:ext cx="9186228" cy="104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Montserrat Medium" pitchFamily="34" charset="0"/>
              </a:rPr>
              <a:t>목표</a:t>
            </a:r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en-US" altLang="ko-KR" sz="2000" b="1" dirty="0">
                <a:latin typeface="Montserrat Medium" pitchFamily="34" charset="0"/>
              </a:rPr>
              <a:t>-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 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클릭보상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+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갱신보상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-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발송비용 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= 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최대 기대보상</a:t>
            </a: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301E5D8-AEFE-8FF6-E2EE-6169440E5902}"/>
              </a:ext>
            </a:extLst>
          </p:cNvPr>
          <p:cNvSpPr/>
          <p:nvPr/>
        </p:nvSpPr>
        <p:spPr>
          <a:xfrm>
            <a:off x="4467656" y="6921487"/>
            <a:ext cx="9186228" cy="1043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555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Montserrat Medium" pitchFamily="34" charset="0"/>
              </a:rPr>
              <a:t>결과</a:t>
            </a:r>
            <a:endParaRPr lang="en-US" altLang="ko-KR" sz="800" dirty="0">
              <a:solidFill>
                <a:srgbClr val="74767D"/>
              </a:solidFill>
              <a:latin typeface="Montserrat Medium" pitchFamily="34" charset="0"/>
            </a:endParaRPr>
          </a:p>
          <a:p>
            <a:pPr>
              <a:spcBef>
                <a:spcPts val="200"/>
              </a:spcBef>
            </a:pPr>
            <a:r>
              <a:rPr lang="ko-KR" altLang="en-US" dirty="0">
                <a:solidFill>
                  <a:srgbClr val="74767D"/>
                </a:solidFill>
                <a:latin typeface="Montserrat Medium" pitchFamily="34" charset="0"/>
              </a:rPr>
              <a:t>  </a:t>
            </a:r>
            <a:r>
              <a:rPr lang="en-US" altLang="ko-KR" dirty="0">
                <a:solidFill>
                  <a:srgbClr val="74767D"/>
                </a:solidFill>
                <a:latin typeface="Montserrat Medium" pitchFamily="34" charset="0"/>
              </a:rPr>
              <a:t>   </a:t>
            </a:r>
            <a:r>
              <a:rPr lang="en-US" altLang="ko-KR" sz="2000" b="1" dirty="0">
                <a:solidFill>
                  <a:srgbClr val="0000FF"/>
                </a:solidFill>
                <a:latin typeface="Montserrat Medium" pitchFamily="34" charset="0"/>
              </a:rPr>
              <a:t>- </a:t>
            </a:r>
            <a:r>
              <a:rPr lang="ko-KR" altLang="en-US" sz="2000" b="1" dirty="0" err="1">
                <a:latin typeface="Montserrat Medium" pitchFamily="34" charset="0"/>
              </a:rPr>
              <a:t>갱신률을</a:t>
            </a:r>
            <a:r>
              <a:rPr lang="ko-KR" altLang="en-US" sz="2000" b="1" dirty="0">
                <a:latin typeface="Montserrat Medium" pitchFamily="34" charset="0"/>
              </a:rPr>
              <a:t> 높이기 위한 무차별 발송보다는 </a:t>
            </a:r>
            <a:r>
              <a:rPr lang="ko-KR" altLang="en-US" sz="2000" b="1" dirty="0">
                <a:solidFill>
                  <a:srgbClr val="0000FF"/>
                </a:solidFill>
                <a:latin typeface="Montserrat Medium" pitchFamily="34" charset="0"/>
              </a:rPr>
              <a:t>선택적 발송으로 비용효율성 극대화</a:t>
            </a:r>
            <a:endParaRPr lang="en-US" altLang="ko-KR" sz="2000" dirty="0">
              <a:solidFill>
                <a:srgbClr val="74767D"/>
              </a:solidFill>
              <a:latin typeface="Montserrat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7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F72F-8F73-3C2D-08AF-3BCA9A33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06C3B89-6ED1-0846-9EED-7646ACFBD310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66B94A05-4468-B07F-9C4B-E02F8CBC27D2}"/>
              </a:ext>
            </a:extLst>
          </p:cNvPr>
          <p:cNvSpPr/>
          <p:nvPr/>
        </p:nvSpPr>
        <p:spPr>
          <a:xfrm>
            <a:off x="428262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+mn-ea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+mn-ea"/>
              </a:rPr>
              <a:t>DQN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A520AB1-DC7B-63F8-772B-F040AE3C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4800" cy="8238172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ABF3A074-814D-DEC2-082B-7B3647A2BD08}"/>
              </a:ext>
            </a:extLst>
          </p:cNvPr>
          <p:cNvSpPr/>
          <p:nvPr/>
        </p:nvSpPr>
        <p:spPr>
          <a:xfrm>
            <a:off x="4508192" y="4107309"/>
            <a:ext cx="4799217" cy="1684615"/>
          </a:xfrm>
          <a:prstGeom prst="roundRect">
            <a:avLst>
              <a:gd name="adj" fmla="val 6514"/>
            </a:avLst>
          </a:prstGeom>
          <a:solidFill>
            <a:srgbClr val="FBFCF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78CE5ED5-36EF-A22D-BCED-B5BE206BF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192" y="4084449"/>
            <a:ext cx="4799217" cy="9144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D398A705-9F2A-8601-1E04-B7EAF7F31027}"/>
              </a:ext>
            </a:extLst>
          </p:cNvPr>
          <p:cNvSpPr/>
          <p:nvPr/>
        </p:nvSpPr>
        <p:spPr>
          <a:xfrm>
            <a:off x="4711433" y="4558318"/>
            <a:ext cx="1846287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State (환경 상태)</a:t>
            </a:r>
            <a:endParaRPr lang="en-US" sz="1750" b="1" dirty="0">
              <a:latin typeface="+mn-ea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E99D223-5BAB-5732-088D-F09AB8A278FC}"/>
              </a:ext>
            </a:extLst>
          </p:cNvPr>
          <p:cNvSpPr/>
          <p:nvPr/>
        </p:nvSpPr>
        <p:spPr>
          <a:xfrm>
            <a:off x="4711433" y="4948367"/>
            <a:ext cx="446643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동적 요소</a:t>
            </a: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: </a:t>
            </a:r>
            <a:r>
              <a:rPr lang="ko-KR" altLang="en-US" sz="140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만기까지남은일수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발송횟수</a:t>
            </a: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클릭여부</a:t>
            </a:r>
            <a:endParaRPr lang="en-US" sz="1400" dirty="0">
              <a:latin typeface="+mn-ea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09397E4D-FF7A-D8A5-EB9B-902A839FB862}"/>
              </a:ext>
            </a:extLst>
          </p:cNvPr>
          <p:cNvSpPr/>
          <p:nvPr/>
        </p:nvSpPr>
        <p:spPr>
          <a:xfrm>
            <a:off x="4711433" y="5300077"/>
            <a:ext cx="446643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고정 요소 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: 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고객 정보</a:t>
            </a:r>
            <a:r>
              <a:rPr lang="en-US" sz="12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(성별, 연령대, 결혼여부 등)</a:t>
            </a:r>
            <a:endParaRPr lang="en-US" sz="1400" dirty="0">
              <a:latin typeface="+mn-ea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7475DFC7-1897-5C36-D230-BAE12DE030C6}"/>
              </a:ext>
            </a:extLst>
          </p:cNvPr>
          <p:cNvSpPr/>
          <p:nvPr/>
        </p:nvSpPr>
        <p:spPr>
          <a:xfrm>
            <a:off x="9576253" y="4107309"/>
            <a:ext cx="4799314" cy="1684615"/>
          </a:xfrm>
          <a:prstGeom prst="roundRect">
            <a:avLst>
              <a:gd name="adj" fmla="val 6514"/>
            </a:avLst>
          </a:prstGeom>
          <a:solidFill>
            <a:srgbClr val="FBFCF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2314F406-96F9-118A-2A9C-200FC0B98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253" y="4084449"/>
            <a:ext cx="4799314" cy="91440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8982058E-5536-0FF0-881F-BA449B36B873}"/>
              </a:ext>
            </a:extLst>
          </p:cNvPr>
          <p:cNvSpPr/>
          <p:nvPr/>
        </p:nvSpPr>
        <p:spPr>
          <a:xfrm>
            <a:off x="9779493" y="4558318"/>
            <a:ext cx="1846287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Action (행동)</a:t>
            </a:r>
            <a:endParaRPr lang="en-US" sz="1750" b="1" dirty="0">
              <a:latin typeface="+mn-ea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296780A-7B34-EB70-63FB-17F712417B93}"/>
              </a:ext>
            </a:extLst>
          </p:cNvPr>
          <p:cNvSpPr/>
          <p:nvPr/>
        </p:nvSpPr>
        <p:spPr>
          <a:xfrm>
            <a:off x="9779493" y="4948367"/>
            <a:ext cx="4466533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0 : 문자 보내지 않음</a:t>
            </a:r>
            <a:endParaRPr lang="en-US" sz="1400" dirty="0">
              <a:latin typeface="+mn-ea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2A379B9-5E4B-FF2C-7945-C888136CFA89}"/>
              </a:ext>
            </a:extLst>
          </p:cNvPr>
          <p:cNvSpPr/>
          <p:nvPr/>
        </p:nvSpPr>
        <p:spPr>
          <a:xfrm>
            <a:off x="9779493" y="5300077"/>
            <a:ext cx="4466533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1 : 문자 보냄</a:t>
            </a:r>
            <a:endParaRPr lang="en-US" sz="1400" dirty="0">
              <a:latin typeface="+mn-ea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E13057EF-1571-F0D1-97F9-C9C633EAF59F}"/>
              </a:ext>
            </a:extLst>
          </p:cNvPr>
          <p:cNvSpPr/>
          <p:nvPr/>
        </p:nvSpPr>
        <p:spPr>
          <a:xfrm>
            <a:off x="4508192" y="5883054"/>
            <a:ext cx="4799217" cy="2062388"/>
          </a:xfrm>
          <a:prstGeom prst="roundRect">
            <a:avLst>
              <a:gd name="adj" fmla="val 4220"/>
            </a:avLst>
          </a:prstGeom>
          <a:solidFill>
            <a:srgbClr val="FBFCF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8A832DC9-5EF7-76A6-04BA-95934A25D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192" y="5860194"/>
            <a:ext cx="4799217" cy="91440"/>
          </a:xfrm>
          <a:prstGeom prst="rect">
            <a:avLst/>
          </a:prstGeom>
        </p:spPr>
      </p:pic>
      <p:sp>
        <p:nvSpPr>
          <p:cNvPr id="29" name="Text 13">
            <a:extLst>
              <a:ext uri="{FF2B5EF4-FFF2-40B4-BE49-F238E27FC236}">
                <a16:creationId xmlns:a16="http://schemas.microsoft.com/office/drawing/2014/main" id="{DD550A8F-5E7F-6A98-71B5-F4FC32A781DC}"/>
              </a:ext>
            </a:extLst>
          </p:cNvPr>
          <p:cNvSpPr/>
          <p:nvPr/>
        </p:nvSpPr>
        <p:spPr>
          <a:xfrm>
            <a:off x="4711433" y="6334063"/>
            <a:ext cx="4466435" cy="49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Reward (보상) </a:t>
            </a:r>
            <a:br>
              <a:rPr lang="en-US" sz="120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</a:br>
            <a:r>
              <a:rPr lang="en-US" sz="120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 </a:t>
            </a:r>
            <a:endParaRPr lang="en-US" sz="1200" b="1" dirty="0">
              <a:latin typeface="+mn-ea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17754D7-5285-347D-278E-14722DBEF1BD}"/>
              </a:ext>
            </a:extLst>
          </p:cNvPr>
          <p:cNvSpPr/>
          <p:nvPr/>
        </p:nvSpPr>
        <p:spPr>
          <a:xfrm>
            <a:off x="4711433" y="6743743"/>
            <a:ext cx="446643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발송 </a:t>
            </a:r>
            <a:r>
              <a:rPr lang="ko-KR" altLang="en-US" sz="140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패널티</a:t>
            </a: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: -0.1 (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무분별한 발송 억제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sz="1400" dirty="0">
              <a:latin typeface="+mn-ea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6E60E07-9554-A270-56A3-A98A49503C31}"/>
              </a:ext>
            </a:extLst>
          </p:cNvPr>
          <p:cNvSpPr/>
          <p:nvPr/>
        </p:nvSpPr>
        <p:spPr>
          <a:xfrm>
            <a:off x="4711433" y="7095454"/>
            <a:ext cx="446643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클릭 보상 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:</a:t>
            </a: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+3.5* (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마케팅관점 중간 보상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sz="1400" dirty="0">
              <a:latin typeface="+mn-ea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D0F4F050-F231-025A-EC97-5C59EEFBDD1E}"/>
              </a:ext>
            </a:extLst>
          </p:cNvPr>
          <p:cNvSpPr/>
          <p:nvPr/>
        </p:nvSpPr>
        <p:spPr>
          <a:xfrm>
            <a:off x="4711433" y="7447165"/>
            <a:ext cx="4466435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갱신 보상</a:t>
            </a: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: +10 (</a:t>
            </a:r>
            <a:r>
              <a:rPr lang="ko-KR" altLang="en-US" sz="140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고가치</a:t>
            </a:r>
            <a:r>
              <a:rPr lang="ko-KR" alt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최종 보상</a:t>
            </a:r>
            <a:r>
              <a:rPr lang="en-US" altLang="ko-KR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sz="1400" dirty="0">
              <a:latin typeface="+mn-ea"/>
            </a:endParaRPr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DE828710-D4CD-3E60-BFF0-C3C3D3E0C8EA}"/>
              </a:ext>
            </a:extLst>
          </p:cNvPr>
          <p:cNvSpPr/>
          <p:nvPr/>
        </p:nvSpPr>
        <p:spPr>
          <a:xfrm>
            <a:off x="9576253" y="5883054"/>
            <a:ext cx="4799314" cy="2062388"/>
          </a:xfrm>
          <a:prstGeom prst="roundRect">
            <a:avLst>
              <a:gd name="adj" fmla="val 4220"/>
            </a:avLst>
          </a:prstGeom>
          <a:solidFill>
            <a:srgbClr val="FBFCFE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BA251705-75B9-9DE2-F7B4-521CAEB5C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253" y="5860194"/>
            <a:ext cx="4799314" cy="91440"/>
          </a:xfrm>
          <a:prstGeom prst="rect">
            <a:avLst/>
          </a:prstGeom>
        </p:spPr>
      </p:pic>
      <p:sp>
        <p:nvSpPr>
          <p:cNvPr id="37" name="Text 19">
            <a:extLst>
              <a:ext uri="{FF2B5EF4-FFF2-40B4-BE49-F238E27FC236}">
                <a16:creationId xmlns:a16="http://schemas.microsoft.com/office/drawing/2014/main" id="{D498B01B-164D-3F64-53D5-84F362E4E8E4}"/>
              </a:ext>
            </a:extLst>
          </p:cNvPr>
          <p:cNvSpPr/>
          <p:nvPr/>
        </p:nvSpPr>
        <p:spPr>
          <a:xfrm>
            <a:off x="9779493" y="6334063"/>
            <a:ext cx="1846287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 Slab" pitchFamily="34" charset="-120"/>
              </a:rPr>
              <a:t>Policy (정책)</a:t>
            </a:r>
            <a:endParaRPr lang="en-US" sz="1750" b="1" dirty="0">
              <a:latin typeface="+mn-ea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7CEFED13-7A1D-7655-7CD8-C8E205628FEC}"/>
              </a:ext>
            </a:extLst>
          </p:cNvPr>
          <p:cNvSpPr/>
          <p:nvPr/>
        </p:nvSpPr>
        <p:spPr>
          <a:xfrm>
            <a:off x="9779493" y="6724112"/>
            <a:ext cx="4466533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State에서 Action 확률을 반환</a:t>
            </a:r>
            <a:endParaRPr lang="en-US" sz="1400" dirty="0">
              <a:latin typeface="+mn-ea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B1370233-8026-BF52-AE04-D4FFB8E44AEE}"/>
              </a:ext>
            </a:extLst>
          </p:cNvPr>
          <p:cNvSpPr/>
          <p:nvPr/>
        </p:nvSpPr>
        <p:spPr>
          <a:xfrm>
            <a:off x="9779493" y="7075822"/>
            <a:ext cx="4466533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Epsilon-greedy로 탐색 수행</a:t>
            </a:r>
            <a:endParaRPr lang="en-US" sz="1400" dirty="0">
              <a:latin typeface="+mn-ea"/>
            </a:endParaRPr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80B01601-EE6D-072A-1278-9A79CAA68FEF}"/>
              </a:ext>
            </a:extLst>
          </p:cNvPr>
          <p:cNvSpPr/>
          <p:nvPr/>
        </p:nvSpPr>
        <p:spPr>
          <a:xfrm>
            <a:off x="4508192" y="3411874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2. MDP 구성 </a:t>
            </a:r>
            <a:r>
              <a:rPr lang="en-US" sz="28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(State / Action / Reward / Policy)</a:t>
            </a:r>
            <a:endParaRPr lang="en-US" sz="3550" dirty="0">
              <a:latin typeface="+mn-ea"/>
            </a:endParaRPr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FFB917C3-E396-3B50-2514-66568CD1938B}"/>
              </a:ext>
            </a:extLst>
          </p:cNvPr>
          <p:cNvSpPr/>
          <p:nvPr/>
        </p:nvSpPr>
        <p:spPr>
          <a:xfrm>
            <a:off x="4508192" y="2087595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1. 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목적</a:t>
            </a:r>
            <a:endParaRPr lang="en-US" sz="3550" dirty="0">
              <a:latin typeface="+mn-ea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61EC907F-0BBE-46E8-D914-55F89D5078F9}"/>
              </a:ext>
            </a:extLst>
          </p:cNvPr>
          <p:cNvSpPr/>
          <p:nvPr/>
        </p:nvSpPr>
        <p:spPr>
          <a:xfrm>
            <a:off x="4590162" y="2691745"/>
            <a:ext cx="9956170" cy="496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ko-KR" alt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자동차보험 고객의</a:t>
            </a: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ko-KR" altLang="en-US" sz="1750" b="1" baseline="300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마케팅</a:t>
            </a:r>
            <a:r>
              <a:rPr lang="ko-KR" alt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문자클릭과 최종갱신을 높일 수 있는 최적의 문자 발송 타이밍을 결정</a:t>
            </a:r>
            <a:endParaRPr lang="en-US" sz="1750" b="1" dirty="0">
              <a:latin typeface="+mn-ea"/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4A0167A5-9BD3-972F-F412-A3E49CC2E7DA}"/>
              </a:ext>
            </a:extLst>
          </p:cNvPr>
          <p:cNvSpPr/>
          <p:nvPr/>
        </p:nvSpPr>
        <p:spPr>
          <a:xfrm>
            <a:off x="6352129" y="6334063"/>
            <a:ext cx="2746492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r>
              <a:rPr lang="en-US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* </a:t>
            </a:r>
            <a:r>
              <a:rPr lang="ko-KR" altLang="en-US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클릭하고 갱신확률 </a:t>
            </a:r>
            <a:r>
              <a:rPr lang="en-US" altLang="ko-KR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– </a:t>
            </a:r>
            <a:r>
              <a:rPr lang="ko-KR" altLang="en-US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클릭하고 </a:t>
            </a:r>
            <a:r>
              <a:rPr lang="ko-KR" altLang="en-US" sz="80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갱신안할확률</a:t>
            </a:r>
            <a:r>
              <a:rPr lang="ko-KR" altLang="en-US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altLang="ko-KR" sz="80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= 35%</a:t>
            </a:r>
            <a:endParaRPr 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534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6FD4-1E2C-43CB-6C66-7D873252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D3BA81-0ED0-4E2B-3E6D-A048DB95E81F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604D9CEA-206C-48BC-12D6-3B84E198F0E7}"/>
              </a:ext>
            </a:extLst>
          </p:cNvPr>
          <p:cNvSpPr/>
          <p:nvPr/>
        </p:nvSpPr>
        <p:spPr>
          <a:xfrm>
            <a:off x="428262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+mn-ea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+mn-ea"/>
              </a:rPr>
              <a:t>DQN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A594E9B-2C0C-4B1B-160F-14C1BCC88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4800" cy="8238172"/>
          </a:xfrm>
          <a:prstGeom prst="rect">
            <a:avLst/>
          </a:prstGeom>
        </p:spPr>
      </p:pic>
      <p:sp>
        <p:nvSpPr>
          <p:cNvPr id="42" name="Text 0">
            <a:extLst>
              <a:ext uri="{FF2B5EF4-FFF2-40B4-BE49-F238E27FC236}">
                <a16:creationId xmlns:a16="http://schemas.microsoft.com/office/drawing/2014/main" id="{26333253-B61C-1F0D-B8BB-CBE3518B9E9E}"/>
              </a:ext>
            </a:extLst>
          </p:cNvPr>
          <p:cNvSpPr/>
          <p:nvPr/>
        </p:nvSpPr>
        <p:spPr>
          <a:xfrm>
            <a:off x="4508192" y="2087595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3. 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학습방법</a:t>
            </a:r>
            <a:endParaRPr lang="en-US" sz="3550" dirty="0">
              <a:latin typeface="+mn-ea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EDF0E2C-7839-CB6A-649B-B16D97662754}"/>
              </a:ext>
            </a:extLst>
          </p:cNvPr>
          <p:cNvSpPr/>
          <p:nvPr/>
        </p:nvSpPr>
        <p:spPr>
          <a:xfrm>
            <a:off x="4523182" y="2699633"/>
            <a:ext cx="98523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3-1. Simulator 생성 </a:t>
            </a:r>
            <a:r>
              <a:rPr lang="en-US" sz="28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(Offline → Online 학습을 위한 핵심)</a:t>
            </a:r>
            <a:endParaRPr lang="en-US" sz="3200" dirty="0">
              <a:latin typeface="+mn-ea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FCDAB72-2B5B-BAB9-A52F-EEC8A088383D}"/>
              </a:ext>
            </a:extLst>
          </p:cNvPr>
          <p:cNvSpPr/>
          <p:nvPr/>
        </p:nvSpPr>
        <p:spPr>
          <a:xfrm>
            <a:off x="4355450" y="3334654"/>
            <a:ext cx="9876070" cy="4416147"/>
          </a:xfrm>
          <a:prstGeom prst="roundRect">
            <a:avLst>
              <a:gd name="adj" fmla="val 7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5EEBEDF-7F28-D10E-B4C2-99C2888C87C0}"/>
              </a:ext>
            </a:extLst>
          </p:cNvPr>
          <p:cNvSpPr/>
          <p:nvPr/>
        </p:nvSpPr>
        <p:spPr>
          <a:xfrm>
            <a:off x="4363070" y="3342274"/>
            <a:ext cx="9863072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C2EA6D-7AA8-1D9B-4E6C-42A1A4B16B5F}"/>
              </a:ext>
            </a:extLst>
          </p:cNvPr>
          <p:cNvSpPr/>
          <p:nvPr/>
        </p:nvSpPr>
        <p:spPr>
          <a:xfrm>
            <a:off x="4590002" y="3485982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구분</a:t>
            </a:r>
            <a:endParaRPr lang="en-US" sz="1750" dirty="0">
              <a:latin typeface="+mn-ea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F6E4495-741B-9658-3AC4-5A622E98A8C9}"/>
              </a:ext>
            </a:extLst>
          </p:cNvPr>
          <p:cNvSpPr/>
          <p:nvPr/>
        </p:nvSpPr>
        <p:spPr>
          <a:xfrm>
            <a:off x="8234829" y="3485982"/>
            <a:ext cx="545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내용</a:t>
            </a:r>
            <a:endParaRPr lang="en-US" sz="1750" dirty="0">
              <a:latin typeface="+mn-ea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945D222-1E0B-2F66-1228-5A28625D83CB}"/>
              </a:ext>
            </a:extLst>
          </p:cNvPr>
          <p:cNvSpPr/>
          <p:nvPr/>
        </p:nvSpPr>
        <p:spPr>
          <a:xfrm>
            <a:off x="4363070" y="3992593"/>
            <a:ext cx="9863072" cy="11493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E97F9E4-5FDB-ACD8-29A3-5FB174D836F9}"/>
              </a:ext>
            </a:extLst>
          </p:cNvPr>
          <p:cNvSpPr/>
          <p:nvPr/>
        </p:nvSpPr>
        <p:spPr>
          <a:xfrm>
            <a:off x="4590002" y="4136302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문제</a:t>
            </a:r>
            <a:endParaRPr lang="en-US" sz="1750" b="1" dirty="0">
              <a:latin typeface="+mn-ea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26FB240-3182-E2B2-5ED1-5CB6FDA95620}"/>
              </a:ext>
            </a:extLst>
          </p:cNvPr>
          <p:cNvSpPr/>
          <p:nvPr/>
        </p:nvSpPr>
        <p:spPr>
          <a:xfrm>
            <a:off x="5769415" y="4136302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로그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데이터는</a:t>
            </a:r>
            <a:r>
              <a:rPr 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00000"/>
                </a:solidFill>
                <a:latin typeface="+mn-ea"/>
                <a:cs typeface="Roboto" pitchFamily="34" charset="-120"/>
              </a:rPr>
              <a:t>실제로</a:t>
            </a:r>
            <a:r>
              <a:rPr 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00000"/>
                </a:solidFill>
                <a:latin typeface="+mn-ea"/>
                <a:cs typeface="Roboto" pitchFamily="34" charset="-120"/>
              </a:rPr>
              <a:t>보낸</a:t>
            </a:r>
            <a:r>
              <a:rPr lang="en-US" sz="140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(action=SEND)</a:t>
            </a:r>
            <a:r>
              <a:rPr 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 경우에 대한 </a:t>
            </a:r>
            <a:r>
              <a:rPr lang="en-US" sz="1750" dirty="0" err="1">
                <a:solidFill>
                  <a:srgbClr val="C00000"/>
                </a:solidFill>
                <a:latin typeface="+mn-ea"/>
                <a:cs typeface="Roboto" pitchFamily="34" charset="-120"/>
              </a:rPr>
              <a:t>관찰만</a:t>
            </a:r>
            <a:r>
              <a:rPr 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00000"/>
                </a:solidFill>
                <a:latin typeface="+mn-ea"/>
                <a:cs typeface="Roboto" pitchFamily="34" charset="-120"/>
              </a:rPr>
              <a:t>존재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(</a:t>
            </a:r>
            <a:r>
              <a:rPr lang="en-US" sz="1750" u="sng" dirty="0">
                <a:solidFill>
                  <a:srgbClr val="15213F"/>
                </a:solidFill>
                <a:latin typeface="+mn-ea"/>
                <a:cs typeface="Roboto" pitchFamily="34" charset="-120"/>
              </a:rPr>
              <a:t>Off-policy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sz="1750" dirty="0">
              <a:latin typeface="+mn-ea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B44B392-1950-FFE8-6996-345148BA31B6}"/>
              </a:ext>
            </a:extLst>
          </p:cNvPr>
          <p:cNvSpPr/>
          <p:nvPr/>
        </p:nvSpPr>
        <p:spPr>
          <a:xfrm>
            <a:off x="5769415" y="4635293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DQN이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새 행동(안보낸 경우 등)을 평가하려면 행동에 대한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반응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모델이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필요</a:t>
            </a:r>
            <a:endParaRPr lang="en-US" sz="1750" dirty="0">
              <a:latin typeface="+mn-ea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4A570AD1-042C-058A-7961-DDF5E0DC4F35}"/>
              </a:ext>
            </a:extLst>
          </p:cNvPr>
          <p:cNvSpPr/>
          <p:nvPr/>
        </p:nvSpPr>
        <p:spPr>
          <a:xfrm>
            <a:off x="4363070" y="5141904"/>
            <a:ext cx="9863072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79263820-85A3-A43B-CDF6-4BE3A485A125}"/>
              </a:ext>
            </a:extLst>
          </p:cNvPr>
          <p:cNvSpPr/>
          <p:nvPr/>
        </p:nvSpPr>
        <p:spPr>
          <a:xfrm>
            <a:off x="4590002" y="5285612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해결</a:t>
            </a:r>
            <a:endParaRPr lang="en-US" sz="1750" b="1" dirty="0">
              <a:latin typeface="+mn-ea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6BE3048-C9C6-153B-1355-05DC4ABE9490}"/>
              </a:ext>
            </a:extLst>
          </p:cNvPr>
          <p:cNvSpPr/>
          <p:nvPr/>
        </p:nvSpPr>
        <p:spPr>
          <a:xfrm>
            <a:off x="5769415" y="5285612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로그를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사용해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0000FF"/>
                </a:solidFill>
                <a:latin typeface="+mn-ea"/>
                <a:cs typeface="Roboto" pitchFamily="34" charset="-120"/>
              </a:rPr>
              <a:t>state + action </a:t>
            </a:r>
            <a:r>
              <a:rPr lang="en-US" sz="1750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입력시</a:t>
            </a:r>
            <a:r>
              <a:rPr lang="en-US" sz="1750" dirty="0">
                <a:solidFill>
                  <a:srgbClr val="0000FF"/>
                </a:solidFill>
                <a:latin typeface="+mn-ea"/>
                <a:cs typeface="Roboto" pitchFamily="34" charset="-120"/>
              </a:rPr>
              <a:t>  </a:t>
            </a:r>
            <a:r>
              <a:rPr lang="en-US" sz="1750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클릭</a:t>
            </a:r>
            <a:r>
              <a:rPr lang="en-US" sz="1750" dirty="0">
                <a:solidFill>
                  <a:srgbClr val="0000FF"/>
                </a:solidFill>
                <a:latin typeface="+mn-ea"/>
                <a:cs typeface="Roboto" pitchFamily="34" charset="-120"/>
              </a:rPr>
              <a:t>/</a:t>
            </a:r>
            <a:r>
              <a:rPr lang="en-US" sz="1750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갱신을</a:t>
            </a:r>
            <a:r>
              <a:rPr lang="en-US" sz="1750" dirty="0">
                <a:solidFill>
                  <a:srgbClr val="0000FF"/>
                </a:solidFill>
                <a:latin typeface="+mn-ea"/>
                <a:cs typeface="Roboto" pitchFamily="34" charset="-120"/>
              </a:rPr>
              <a:t> 예측하는 </a:t>
            </a:r>
            <a:r>
              <a:rPr 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Simulator </a:t>
            </a:r>
            <a:r>
              <a:rPr lang="en-US" sz="1750" b="1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모델</a:t>
            </a:r>
            <a:endParaRPr lang="en-US" sz="175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EC97B052-52E2-546E-3504-F1ABB638528C}"/>
              </a:ext>
            </a:extLst>
          </p:cNvPr>
          <p:cNvSpPr/>
          <p:nvPr/>
        </p:nvSpPr>
        <p:spPr>
          <a:xfrm>
            <a:off x="4363070" y="5792223"/>
            <a:ext cx="9863072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FFEA5AB-20F4-DDFB-FA02-D25118F61737}"/>
              </a:ext>
            </a:extLst>
          </p:cNvPr>
          <p:cNvSpPr/>
          <p:nvPr/>
        </p:nvSpPr>
        <p:spPr>
          <a:xfrm>
            <a:off x="4590002" y="5935932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모델 선택</a:t>
            </a:r>
            <a:endParaRPr lang="en-US" sz="1750" dirty="0">
              <a:latin typeface="+mn-ea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CDDD3AB-6C89-F0C4-0786-607306B36C48}"/>
              </a:ext>
            </a:extLst>
          </p:cNvPr>
          <p:cNvSpPr/>
          <p:nvPr/>
        </p:nvSpPr>
        <p:spPr>
          <a:xfrm>
            <a:off x="5769415" y="5935932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LightGBM</a:t>
            </a: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: 이진분류 모델로 P(클릭)과 P(갱신)를 학습.</a:t>
            </a:r>
            <a:endParaRPr lang="en-US" sz="1750" dirty="0">
              <a:latin typeface="+mn-ea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D44DBD0A-F4C9-7002-2CBD-9EF465D55F69}"/>
              </a:ext>
            </a:extLst>
          </p:cNvPr>
          <p:cNvSpPr/>
          <p:nvPr/>
        </p:nvSpPr>
        <p:spPr>
          <a:xfrm>
            <a:off x="4363070" y="6442542"/>
            <a:ext cx="9863072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C8C21F4A-04BD-8DDF-F3DC-F0059422412C}"/>
              </a:ext>
            </a:extLst>
          </p:cNvPr>
          <p:cNvSpPr/>
          <p:nvPr/>
        </p:nvSpPr>
        <p:spPr>
          <a:xfrm>
            <a:off x="4590002" y="6586251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출력 함수</a:t>
            </a:r>
            <a:endParaRPr lang="en-US" sz="1750" dirty="0">
              <a:latin typeface="+mn-ea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8D3064DB-F70E-DB42-BB17-DE1511E8A64E}"/>
              </a:ext>
            </a:extLst>
          </p:cNvPr>
          <p:cNvSpPr/>
          <p:nvPr/>
        </p:nvSpPr>
        <p:spPr>
          <a:xfrm>
            <a:off x="5769415" y="6586251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predict_probs_models : (state, action) → (pc, pr)</a:t>
            </a:r>
            <a:endParaRPr lang="en-US" sz="1750" dirty="0">
              <a:latin typeface="+mn-ea"/>
            </a:endParaRPr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1D2250B3-ED7E-A3D8-9FF0-9DF81753BD20}"/>
              </a:ext>
            </a:extLst>
          </p:cNvPr>
          <p:cNvSpPr/>
          <p:nvPr/>
        </p:nvSpPr>
        <p:spPr>
          <a:xfrm>
            <a:off x="4363070" y="7092862"/>
            <a:ext cx="9863072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088C51E9-B741-023D-6EC9-33F90B21BE34}"/>
              </a:ext>
            </a:extLst>
          </p:cNvPr>
          <p:cNvSpPr/>
          <p:nvPr/>
        </p:nvSpPr>
        <p:spPr>
          <a:xfrm>
            <a:off x="4590002" y="7236570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역할</a:t>
            </a:r>
            <a:endParaRPr lang="en-US" sz="1750" b="1" dirty="0">
              <a:latin typeface="+mn-ea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ED56A63-F6CF-45B5-5375-24EAC17CA720}"/>
              </a:ext>
            </a:extLst>
          </p:cNvPr>
          <p:cNvSpPr/>
          <p:nvPr/>
        </p:nvSpPr>
        <p:spPr>
          <a:xfrm>
            <a:off x="5769415" y="7236570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온라인 시뮬레이션 환경에서 행동을 취할 때 발생할 확률적 결과</a:t>
            </a:r>
            <a:r>
              <a:rPr 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(클릭・갱신)를 생성</a:t>
            </a:r>
            <a:endParaRPr lang="en-US" sz="175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4FA245D-D980-36B6-1E9D-A5EC78098B32}"/>
              </a:ext>
            </a:extLst>
          </p:cNvPr>
          <p:cNvSpPr/>
          <p:nvPr/>
        </p:nvSpPr>
        <p:spPr>
          <a:xfrm>
            <a:off x="4363070" y="7092861"/>
            <a:ext cx="9863071" cy="65031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56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0D36-02BC-853F-88D1-14F4334D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55A02EA-035F-6B87-B669-BF53F61DFB4B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8075E42F-FA42-BE9B-A49E-A3257B9552C7}"/>
              </a:ext>
            </a:extLst>
          </p:cNvPr>
          <p:cNvSpPr/>
          <p:nvPr/>
        </p:nvSpPr>
        <p:spPr>
          <a:xfrm>
            <a:off x="428262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+mn-ea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+mn-ea"/>
              </a:rPr>
              <a:t>DQN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04C59F2-CFA0-FF2E-8F5C-C2FC74F5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4800" cy="8238172"/>
          </a:xfrm>
          <a:prstGeom prst="rect">
            <a:avLst/>
          </a:prstGeom>
        </p:spPr>
      </p:pic>
      <p:sp>
        <p:nvSpPr>
          <p:cNvPr id="42" name="Text 0">
            <a:extLst>
              <a:ext uri="{FF2B5EF4-FFF2-40B4-BE49-F238E27FC236}">
                <a16:creationId xmlns:a16="http://schemas.microsoft.com/office/drawing/2014/main" id="{E0099A12-8F99-A03C-211E-75ED3F940F49}"/>
              </a:ext>
            </a:extLst>
          </p:cNvPr>
          <p:cNvSpPr/>
          <p:nvPr/>
        </p:nvSpPr>
        <p:spPr>
          <a:xfrm>
            <a:off x="4508192" y="2087595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3. 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학습방법</a:t>
            </a:r>
            <a:endParaRPr lang="en-US" sz="3550" dirty="0">
              <a:latin typeface="+mn-ea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65FD749-DE5C-EF6A-6CAA-18527D3DD9CD}"/>
              </a:ext>
            </a:extLst>
          </p:cNvPr>
          <p:cNvSpPr/>
          <p:nvPr/>
        </p:nvSpPr>
        <p:spPr>
          <a:xfrm>
            <a:off x="4523182" y="2699633"/>
            <a:ext cx="98523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3-2. DQN </a:t>
            </a:r>
            <a:r>
              <a:rPr lang="ko-KR" altLang="en-US" sz="32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에이전트 구성</a:t>
            </a:r>
            <a:endParaRPr lang="en-US" sz="3200" dirty="0">
              <a:latin typeface="+mn-ea"/>
            </a:endParaRPr>
          </a:p>
        </p:txBody>
      </p:sp>
      <p:sp>
        <p:nvSpPr>
          <p:cNvPr id="58" name="Shape 1">
            <a:extLst>
              <a:ext uri="{FF2B5EF4-FFF2-40B4-BE49-F238E27FC236}">
                <a16:creationId xmlns:a16="http://schemas.microsoft.com/office/drawing/2014/main" id="{59D7E2CD-90AE-7E83-552F-3064EABE0431}"/>
              </a:ext>
            </a:extLst>
          </p:cNvPr>
          <p:cNvSpPr/>
          <p:nvPr/>
        </p:nvSpPr>
        <p:spPr>
          <a:xfrm>
            <a:off x="4355450" y="3334654"/>
            <a:ext cx="9876070" cy="4416147"/>
          </a:xfrm>
          <a:prstGeom prst="roundRect">
            <a:avLst>
              <a:gd name="adj" fmla="val 7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E3E9955D-1E84-4912-0D12-CAF62F7AAE58}"/>
              </a:ext>
            </a:extLst>
          </p:cNvPr>
          <p:cNvSpPr/>
          <p:nvPr/>
        </p:nvSpPr>
        <p:spPr>
          <a:xfrm>
            <a:off x="4363070" y="3342274"/>
            <a:ext cx="9863072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FC594B57-0231-9D39-A566-30D4C5219804}"/>
              </a:ext>
            </a:extLst>
          </p:cNvPr>
          <p:cNvSpPr/>
          <p:nvPr/>
        </p:nvSpPr>
        <p:spPr>
          <a:xfrm>
            <a:off x="4590002" y="3485982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DQN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에이전트</a:t>
            </a:r>
            <a:endParaRPr lang="en-US" sz="1750" dirty="0">
              <a:latin typeface="+mn-ea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5BCE5798-3590-51FD-EBC2-08A917403D9E}"/>
              </a:ext>
            </a:extLst>
          </p:cNvPr>
          <p:cNvSpPr/>
          <p:nvPr/>
        </p:nvSpPr>
        <p:spPr>
          <a:xfrm>
            <a:off x="8234829" y="3485982"/>
            <a:ext cx="545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내용</a:t>
            </a:r>
            <a:endParaRPr lang="en-US" sz="1750" dirty="0">
              <a:latin typeface="+mn-ea"/>
            </a:endParaRPr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3A66E2B3-200A-8C5F-C94B-C9645DA18FF1}"/>
              </a:ext>
            </a:extLst>
          </p:cNvPr>
          <p:cNvSpPr/>
          <p:nvPr/>
        </p:nvSpPr>
        <p:spPr>
          <a:xfrm>
            <a:off x="4363070" y="3992593"/>
            <a:ext cx="9863072" cy="6515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C51E6A29-CB69-E6AA-E71A-BE48E7ED0339}"/>
              </a:ext>
            </a:extLst>
          </p:cNvPr>
          <p:cNvSpPr/>
          <p:nvPr/>
        </p:nvSpPr>
        <p:spPr>
          <a:xfrm>
            <a:off x="4590002" y="4052078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Q-network</a:t>
            </a:r>
            <a:b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(</a:t>
            </a:r>
            <a:r>
              <a:rPr lang="en-US" sz="1750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Policy_net</a:t>
            </a: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sz="1750" b="1" dirty="0">
              <a:latin typeface="+mn-ea"/>
            </a:endParaRPr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7A5E2AC7-A0F5-2C7F-160D-1845A604E90F}"/>
              </a:ext>
            </a:extLst>
          </p:cNvPr>
          <p:cNvSpPr/>
          <p:nvPr/>
        </p:nvSpPr>
        <p:spPr>
          <a:xfrm>
            <a:off x="6218995" y="4136302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MLP</a:t>
            </a:r>
            <a:r>
              <a:rPr lang="ko-KR" altLang="en-US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구조</a:t>
            </a:r>
            <a:r>
              <a:rPr lang="en-US" altLang="ko-KR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(INPUT=STATE_DIM → 256 → 128 → N_ACTIONS)</a:t>
            </a:r>
            <a:r>
              <a:rPr lang="en-US" altLang="ko-KR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altLang="ko-KR" sz="1750" dirty="0" err="1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출력은</a:t>
            </a:r>
            <a:r>
              <a:rPr lang="en-US" altLang="ko-KR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Q(</a:t>
            </a:r>
            <a:r>
              <a:rPr lang="en-US" altLang="ko-KR" sz="1750" dirty="0" err="1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s,a</a:t>
            </a:r>
            <a:r>
              <a:rPr lang="en-US" altLang="ko-KR" sz="17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값</a:t>
            </a:r>
            <a:endParaRPr lang="en-US" altLang="ko-KR" sz="1750" dirty="0">
              <a:solidFill>
                <a:srgbClr val="0000FF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+mn-ea"/>
            </a:endParaRPr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DE7A7C75-B9C1-C0AD-CE23-25E4DADB67C4}"/>
              </a:ext>
            </a:extLst>
          </p:cNvPr>
          <p:cNvSpPr/>
          <p:nvPr/>
        </p:nvSpPr>
        <p:spPr>
          <a:xfrm>
            <a:off x="4363070" y="5141904"/>
            <a:ext cx="9863072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FE8864ED-E5DA-A10D-0C72-2ECDACC103D3}"/>
              </a:ext>
            </a:extLst>
          </p:cNvPr>
          <p:cNvSpPr/>
          <p:nvPr/>
        </p:nvSpPr>
        <p:spPr>
          <a:xfrm>
            <a:off x="4363070" y="5202670"/>
            <a:ext cx="9863072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AD30DB06-E997-95F0-E8FD-E311AA189097}"/>
              </a:ext>
            </a:extLst>
          </p:cNvPr>
          <p:cNvSpPr/>
          <p:nvPr/>
        </p:nvSpPr>
        <p:spPr>
          <a:xfrm>
            <a:off x="4590002" y="4649057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Replay</a:t>
            </a:r>
            <a:b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altLang="ko-KR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Buffer</a:t>
            </a:r>
            <a:endParaRPr lang="en-US" sz="1750" b="1" dirty="0">
              <a:latin typeface="+mn-ea"/>
            </a:endParaRPr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201ECE0F-BF44-43E5-B460-ADA23F24D72D}"/>
              </a:ext>
            </a:extLst>
          </p:cNvPr>
          <p:cNvSpPr/>
          <p:nvPr/>
        </p:nvSpPr>
        <p:spPr>
          <a:xfrm>
            <a:off x="6218995" y="4709217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경험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s,a,r,s',done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)을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버퍼에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저장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무작위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샘플링으로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배치학습</a:t>
            </a:r>
            <a:endParaRPr lang="en-US" altLang="ko-KR" sz="1750" dirty="0"/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944B7DD6-3FC9-CD5A-FC0B-6D40827FEC54}"/>
              </a:ext>
            </a:extLst>
          </p:cNvPr>
          <p:cNvSpPr/>
          <p:nvPr/>
        </p:nvSpPr>
        <p:spPr>
          <a:xfrm>
            <a:off x="4568235" y="5365940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Target_net</a:t>
            </a:r>
            <a:endParaRPr lang="en-US" sz="1750" b="1" dirty="0">
              <a:latin typeface="+mn-ea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5D28A24E-A159-19A7-3A93-EC3F0340BD34}"/>
              </a:ext>
            </a:extLst>
          </p:cNvPr>
          <p:cNvSpPr/>
          <p:nvPr/>
        </p:nvSpPr>
        <p:spPr>
          <a:xfrm>
            <a:off x="6227708" y="5319420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policy_net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복사본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정기적으로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복사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(soft/hard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업데이트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)로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타깃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계산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안정화</a:t>
            </a:r>
            <a:endParaRPr lang="en-US" altLang="ko-KR" sz="1750" dirty="0"/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6C9AD3E9-5BFC-7FB8-1B9C-29A222B72B52}"/>
              </a:ext>
            </a:extLst>
          </p:cNvPr>
          <p:cNvSpPr/>
          <p:nvPr/>
        </p:nvSpPr>
        <p:spPr>
          <a:xfrm>
            <a:off x="4363070" y="6452350"/>
            <a:ext cx="9863072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5935D3EB-D241-E5F8-4808-63E3AEA70061}"/>
              </a:ext>
            </a:extLst>
          </p:cNvPr>
          <p:cNvSpPr/>
          <p:nvPr/>
        </p:nvSpPr>
        <p:spPr>
          <a:xfrm>
            <a:off x="4568235" y="6615620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Optimizer</a:t>
            </a:r>
            <a:endParaRPr lang="en-US" sz="1750" b="1" dirty="0">
              <a:latin typeface="+mn-ea"/>
            </a:endParaRPr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8866ED5A-FA3A-F7D4-40F9-56D844519514}"/>
              </a:ext>
            </a:extLst>
          </p:cNvPr>
          <p:cNvSpPr/>
          <p:nvPr/>
        </p:nvSpPr>
        <p:spPr>
          <a:xfrm>
            <a:off x="6227708" y="6569100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Adam (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lr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설정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altLang="ko-KR" sz="1750" dirty="0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988A70A8-9089-CBDE-D335-2AFF71BAF285}"/>
              </a:ext>
            </a:extLst>
          </p:cNvPr>
          <p:cNvSpPr/>
          <p:nvPr/>
        </p:nvSpPr>
        <p:spPr>
          <a:xfrm>
            <a:off x="4559522" y="5974251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latin typeface="+mn-ea"/>
              </a:rPr>
              <a:t>Loss</a:t>
            </a: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D2F3E421-869E-EA8E-02B8-E1D3F0ACF1FB}"/>
              </a:ext>
            </a:extLst>
          </p:cNvPr>
          <p:cNvSpPr/>
          <p:nvPr/>
        </p:nvSpPr>
        <p:spPr>
          <a:xfrm>
            <a:off x="6218995" y="5927731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MSE between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q_sa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 + gamma *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max_a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'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Q_target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s',a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').</a:t>
            </a:r>
            <a:endParaRPr lang="en-US" altLang="ko-KR" sz="1750" dirty="0"/>
          </a:p>
          <a:p>
            <a:pPr>
              <a:lnSpc>
                <a:spcPts val="2850"/>
              </a:lnSpc>
            </a:pPr>
            <a:endParaRPr lang="en-US" altLang="ko-KR" sz="1750" dirty="0"/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3A2D7F1E-1938-E7DB-C628-F2E30225B569}"/>
              </a:ext>
            </a:extLst>
          </p:cNvPr>
          <p:cNvSpPr/>
          <p:nvPr/>
        </p:nvSpPr>
        <p:spPr>
          <a:xfrm>
            <a:off x="4574762" y="7132491"/>
            <a:ext cx="1076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latin typeface="+mn-ea"/>
              </a:rPr>
              <a:t>Epsilon</a:t>
            </a:r>
            <a:br>
              <a:rPr lang="en-US" sz="1750" b="1" dirty="0">
                <a:latin typeface="+mn-ea"/>
              </a:rPr>
            </a:br>
            <a:r>
              <a:rPr lang="en-US" sz="1750" b="1" dirty="0">
                <a:latin typeface="+mn-ea"/>
              </a:rPr>
              <a:t>greedy</a:t>
            </a:r>
          </a:p>
        </p:txBody>
      </p:sp>
      <p:sp>
        <p:nvSpPr>
          <p:cNvPr id="91" name="Text 7">
            <a:extLst>
              <a:ext uri="{FF2B5EF4-FFF2-40B4-BE49-F238E27FC236}">
                <a16:creationId xmlns:a16="http://schemas.microsoft.com/office/drawing/2014/main" id="{83FED472-3EA5-F13B-272D-9ABFA72E35EF}"/>
              </a:ext>
            </a:extLst>
          </p:cNvPr>
          <p:cNvSpPr/>
          <p:nvPr/>
        </p:nvSpPr>
        <p:spPr>
          <a:xfrm>
            <a:off x="6234235" y="7207891"/>
            <a:ext cx="80062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EPS_START → EPS_END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지수적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지연감소로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탐색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비율</a:t>
            </a:r>
            <a:r>
              <a:rPr lang="en-US" altLang="ko-KR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감소</a:t>
            </a:r>
            <a:endParaRPr lang="en-US" altLang="ko-KR" sz="1750" dirty="0"/>
          </a:p>
        </p:txBody>
      </p:sp>
    </p:spTree>
    <p:extLst>
      <p:ext uri="{BB962C8B-B14F-4D97-AF65-F5344CB8AC3E}">
        <p14:creationId xmlns:p14="http://schemas.microsoft.com/office/powerpoint/2010/main" val="4097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E1B1-5761-E7EF-8353-80E39B5E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9599FE7-2821-63BE-0A1A-A24FA9226B64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400180A3-731A-9B68-D7E1-033109823BDA}"/>
              </a:ext>
            </a:extLst>
          </p:cNvPr>
          <p:cNvSpPr/>
          <p:nvPr/>
        </p:nvSpPr>
        <p:spPr>
          <a:xfrm>
            <a:off x="428262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+mn-ea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+mn-ea"/>
              </a:rPr>
              <a:t>DQN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819FF1B-6B88-E032-CE4E-B8F015F0C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14800" cy="8238172"/>
          </a:xfrm>
          <a:prstGeom prst="rect">
            <a:avLst/>
          </a:prstGeom>
        </p:spPr>
      </p:pic>
      <p:sp>
        <p:nvSpPr>
          <p:cNvPr id="42" name="Text 0">
            <a:extLst>
              <a:ext uri="{FF2B5EF4-FFF2-40B4-BE49-F238E27FC236}">
                <a16:creationId xmlns:a16="http://schemas.microsoft.com/office/drawing/2014/main" id="{C65CED9A-8D3A-1F41-3CB6-822E376B4E41}"/>
              </a:ext>
            </a:extLst>
          </p:cNvPr>
          <p:cNvSpPr/>
          <p:nvPr/>
        </p:nvSpPr>
        <p:spPr>
          <a:xfrm>
            <a:off x="4508192" y="2087595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3. 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학습방법</a:t>
            </a:r>
            <a:endParaRPr lang="en-US" sz="3550" dirty="0">
              <a:latin typeface="+mn-ea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93C89DE-8439-CA50-84D3-06F78F8659EC}"/>
              </a:ext>
            </a:extLst>
          </p:cNvPr>
          <p:cNvSpPr/>
          <p:nvPr/>
        </p:nvSpPr>
        <p:spPr>
          <a:xfrm>
            <a:off x="4523182" y="2699633"/>
            <a:ext cx="98523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3-3. Online training loop / </a:t>
            </a:r>
            <a:r>
              <a:rPr lang="ko-KR" altLang="en-US" sz="32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평가 방법</a:t>
            </a:r>
            <a:endParaRPr lang="en-US" sz="32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6E59B-C8EB-E781-537D-D00EC725A8A1}"/>
              </a:ext>
            </a:extLst>
          </p:cNvPr>
          <p:cNvSpPr txBox="1"/>
          <p:nvPr/>
        </p:nvSpPr>
        <p:spPr>
          <a:xfrm>
            <a:off x="4508192" y="3285760"/>
            <a:ext cx="274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Online training loop </a:t>
            </a:r>
            <a:endParaRPr lang="ko-KR" altLang="en-US" dirty="0"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EAAA1A2-6C83-E756-3F52-54DB44200977}"/>
              </a:ext>
            </a:extLst>
          </p:cNvPr>
          <p:cNvGrpSpPr/>
          <p:nvPr/>
        </p:nvGrpSpPr>
        <p:grpSpPr>
          <a:xfrm>
            <a:off x="6937458" y="3342074"/>
            <a:ext cx="7086838" cy="3241835"/>
            <a:chOff x="2041922" y="1116449"/>
            <a:chExt cx="12009596" cy="4840724"/>
          </a:xfrm>
        </p:grpSpPr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6D608D93-51E9-6594-7EC3-ECDAEF29CAFD}"/>
                </a:ext>
              </a:extLst>
            </p:cNvPr>
            <p:cNvSpPr/>
            <p:nvPr/>
          </p:nvSpPr>
          <p:spPr>
            <a:xfrm>
              <a:off x="2041922" y="1116449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1. 환경 초기화: env = RLInsuranceEnv(train_merged, predict_probs_models, stochastic=True)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300D230A-6483-B618-0361-3BB486F5ADA2}"/>
                </a:ext>
              </a:extLst>
            </p:cNvPr>
            <p:cNvSpPr/>
            <p:nvPr/>
          </p:nvSpPr>
          <p:spPr>
            <a:xfrm>
              <a:off x="2041922" y="1567101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2. For episode in NUM_EPISODES: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80371132-714E-D931-183F-D8F283D19F74}"/>
                </a:ext>
              </a:extLst>
            </p:cNvPr>
            <p:cNvSpPr/>
            <p:nvPr/>
          </p:nvSpPr>
          <p:spPr>
            <a:xfrm>
              <a:off x="2041922" y="2017752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s = env.reset() (새 고객 episode)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466B8562-91FB-C204-D980-40AAAF5801D2}"/>
                </a:ext>
              </a:extLst>
            </p:cNvPr>
            <p:cNvSpPr/>
            <p:nvPr/>
          </p:nvSpPr>
          <p:spPr>
            <a:xfrm>
              <a:off x="2041922" y="2340173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반복 (step):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E2470B3C-5C52-BD90-B0CC-D7D86D5A85D7}"/>
                </a:ext>
              </a:extLst>
            </p:cNvPr>
            <p:cNvSpPr/>
            <p:nvPr/>
          </p:nvSpPr>
          <p:spPr>
            <a:xfrm>
              <a:off x="2041922" y="2662595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선택: a = random with prob eps else a = argmax(policy_net(s))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2A4C70F-7BBE-6DFB-8E2C-BD2450AE3E31}"/>
                </a:ext>
              </a:extLst>
            </p:cNvPr>
            <p:cNvSpPr/>
            <p:nvPr/>
          </p:nvSpPr>
          <p:spPr>
            <a:xfrm>
              <a:off x="2041922" y="2985016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s2, r, done, info = env.step(a)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FB4EE06E-3128-06E0-B3E6-3BBC45E8F0B5}"/>
                </a:ext>
              </a:extLst>
            </p:cNvPr>
            <p:cNvSpPr/>
            <p:nvPr/>
          </p:nvSpPr>
          <p:spPr>
            <a:xfrm>
              <a:off x="2041922" y="3307437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replay.push(s,a,r,s2,done)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6FC774BA-D8E1-DDF6-B586-0FEE1E9EF331}"/>
                </a:ext>
              </a:extLst>
            </p:cNvPr>
            <p:cNvSpPr/>
            <p:nvPr/>
          </p:nvSpPr>
          <p:spPr>
            <a:xfrm>
              <a:off x="2041922" y="3629858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If len(replay) &gt;= BATCH_SIZE: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A58CC34E-A589-F4E2-7C1F-05504A918B52}"/>
                </a:ext>
              </a:extLst>
            </p:cNvPr>
            <p:cNvSpPr/>
            <p:nvPr/>
          </p:nvSpPr>
          <p:spPr>
            <a:xfrm>
              <a:off x="2041922" y="3952280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1028700" lvl="2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샘플 배치, 계산: q_sa, q_target, loss, optimizer.step()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AB0505CD-0EDB-6759-F366-A434F611ADE8}"/>
                </a:ext>
              </a:extLst>
            </p:cNvPr>
            <p:cNvSpPr/>
            <p:nvPr/>
          </p:nvSpPr>
          <p:spPr>
            <a:xfrm>
              <a:off x="2041922" y="4274701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주기적 target network update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28AD4B98-9789-B81D-5E1E-29F1ECCC6EF8}"/>
                </a:ext>
              </a:extLst>
            </p:cNvPr>
            <p:cNvSpPr/>
            <p:nvPr/>
          </p:nvSpPr>
          <p:spPr>
            <a:xfrm>
              <a:off x="2041922" y="4597122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s = s2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F8B4CDC5-1D01-0A13-3F9A-C136F01484E9}"/>
                </a:ext>
              </a:extLst>
            </p:cNvPr>
            <p:cNvSpPr/>
            <p:nvPr/>
          </p:nvSpPr>
          <p:spPr>
            <a:xfrm>
              <a:off x="2041922" y="4919543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685800" lvl="1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break if done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A6E30648-7745-6289-A07F-D803F9D22624}"/>
                </a:ext>
              </a:extLst>
            </p:cNvPr>
            <p:cNvSpPr/>
            <p:nvPr/>
          </p:nvSpPr>
          <p:spPr>
            <a:xfrm>
              <a:off x="2041922" y="5241965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eps = max(EPS_END, eps * EPS_DECAY) (탐색률 감소)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8D16FE3B-1341-277B-C6C2-E121DE743645}"/>
                </a:ext>
              </a:extLst>
            </p:cNvPr>
            <p:cNvSpPr/>
            <p:nvPr/>
          </p:nvSpPr>
          <p:spPr>
            <a:xfrm>
              <a:off x="2041922" y="5692616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3. 기록: episode reward, moving average 등</a:t>
              </a:r>
              <a:endParaRPr lang="en-US" sz="1300" dirty="0">
                <a:latin typeface="+mn-ea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2751A5A-2FD8-C25D-BAE7-B949CE564F84}"/>
              </a:ext>
            </a:extLst>
          </p:cNvPr>
          <p:cNvSpPr txBox="1"/>
          <p:nvPr/>
        </p:nvSpPr>
        <p:spPr>
          <a:xfrm>
            <a:off x="4508192" y="7024917"/>
            <a:ext cx="274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평가방법</a:t>
            </a:r>
            <a:endParaRPr lang="ko-KR" altLang="en-US" dirty="0"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07A1CD4-4045-DE3B-8AAB-2C34A21C13DB}"/>
              </a:ext>
            </a:extLst>
          </p:cNvPr>
          <p:cNvGrpSpPr/>
          <p:nvPr/>
        </p:nvGrpSpPr>
        <p:grpSpPr>
          <a:xfrm>
            <a:off x="5881216" y="6988489"/>
            <a:ext cx="8344925" cy="999623"/>
            <a:chOff x="2041922" y="6866930"/>
            <a:chExt cx="12009596" cy="1085346"/>
          </a:xfrm>
        </p:grpSpPr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FD9522FD-20CC-86EA-2B5F-52E13DA62C7F}"/>
                </a:ext>
              </a:extLst>
            </p:cNvPr>
            <p:cNvSpPr/>
            <p:nvPr/>
          </p:nvSpPr>
          <p:spPr>
            <a:xfrm>
              <a:off x="2041922" y="6866930"/>
              <a:ext cx="12009596" cy="2645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800"/>
                </a:lnSpc>
                <a:buSzPct val="100000"/>
                <a:buChar char="•"/>
              </a:pPr>
              <a:r>
                <a:rPr lang="en-US" sz="1300" b="1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Greedy </a:t>
              </a:r>
              <a:r>
                <a:rPr lang="en-US" sz="1300" b="1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롤아웃</a:t>
              </a:r>
              <a:r>
                <a:rPr lang="en-US" sz="1300" b="1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: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policy_net을 고정하여 test_merged 각 고객별로 시뮬레이션(확률적 시뮬레이션 사용) </a:t>
              </a:r>
              <a:b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</a:b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                          → </a:t>
              </a:r>
              <a:r>
                <a:rPr lang="en-US" sz="1300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test_rewards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, </a:t>
              </a:r>
              <a:r>
                <a:rPr lang="en-US" sz="1300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test_renewals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, </a:t>
              </a:r>
              <a:r>
                <a:rPr lang="en-US" sz="1300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test_sends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</a:t>
              </a:r>
              <a:r>
                <a:rPr lang="en-US" sz="1300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수집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.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BA4FFDFA-995A-FD44-AAD3-01C105289BC4}"/>
                </a:ext>
              </a:extLst>
            </p:cNvPr>
            <p:cNvSpPr/>
            <p:nvPr/>
          </p:nvSpPr>
          <p:spPr>
            <a:xfrm>
              <a:off x="2041922" y="7365297"/>
              <a:ext cx="12009596" cy="264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b="1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Baseline </a:t>
              </a:r>
              <a:r>
                <a:rPr lang="en-US" sz="1300" b="1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비교</a:t>
              </a:r>
              <a:r>
                <a:rPr lang="en-US" sz="1300" b="1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: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실제 로그의 갱신여부_num 집계값(예: per KEY max)과 비교 → baseline_renew_rate.</a:t>
              </a:r>
              <a:endParaRPr lang="en-US" sz="1300" dirty="0">
                <a:latin typeface="+mn-ea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4A2F1064-4C9E-B263-3989-6FC2367C84CE}"/>
                </a:ext>
              </a:extLst>
            </p:cNvPr>
            <p:cNvSpPr/>
            <p:nvPr/>
          </p:nvSpPr>
          <p:spPr>
            <a:xfrm>
              <a:off x="2041922" y="7687718"/>
              <a:ext cx="12009596" cy="264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050"/>
                </a:lnSpc>
                <a:buSzPct val="100000"/>
                <a:buChar char="•"/>
              </a:pPr>
              <a:r>
                <a:rPr lang="en-US" sz="1300" b="1" dirty="0" err="1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지표</a:t>
              </a:r>
              <a:r>
                <a:rPr lang="en-US" sz="1300" b="1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:</a:t>
              </a:r>
              <a:r>
                <a:rPr lang="en-US" sz="1300" dirty="0">
                  <a:solidFill>
                    <a:srgbClr val="15213F"/>
                  </a:solidFill>
                  <a:latin typeface="+mn-ea"/>
                  <a:cs typeface="Roboto" pitchFamily="34" charset="-120"/>
                </a:rPr>
                <a:t> 평균 reward, 갱신율, 발송횟수, reward uplift 등</a:t>
              </a:r>
              <a:endParaRPr lang="en-US" sz="1300" dirty="0">
                <a:latin typeface="+mn-ea"/>
              </a:endParaRPr>
            </a:p>
          </p:txBody>
        </p:sp>
      </p:grpSp>
      <p:sp>
        <p:nvSpPr>
          <p:cNvPr id="28" name="Shape 12">
            <a:extLst>
              <a:ext uri="{FF2B5EF4-FFF2-40B4-BE49-F238E27FC236}">
                <a16:creationId xmlns:a16="http://schemas.microsoft.com/office/drawing/2014/main" id="{7C424FAC-4ADB-EC96-30EB-3073CAC57803}"/>
              </a:ext>
            </a:extLst>
          </p:cNvPr>
          <p:cNvSpPr/>
          <p:nvPr/>
        </p:nvSpPr>
        <p:spPr>
          <a:xfrm>
            <a:off x="4363070" y="6809510"/>
            <a:ext cx="9863072" cy="13438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CB62FEC2-E8D3-28ED-CC51-0E7E6AE4D2DA}"/>
              </a:ext>
            </a:extLst>
          </p:cNvPr>
          <p:cNvSpPr/>
          <p:nvPr/>
        </p:nvSpPr>
        <p:spPr>
          <a:xfrm>
            <a:off x="4355450" y="3307080"/>
            <a:ext cx="9876070" cy="4846319"/>
          </a:xfrm>
          <a:prstGeom prst="roundRect">
            <a:avLst>
              <a:gd name="adj" fmla="val 7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7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CD469-DB5A-65D0-081B-9551D69B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D13F4C71-6EA8-557F-FC11-5339D1EC75AF}"/>
              </a:ext>
            </a:extLst>
          </p:cNvPr>
          <p:cNvSpPr/>
          <p:nvPr/>
        </p:nvSpPr>
        <p:spPr>
          <a:xfrm rot="5400000">
            <a:off x="9791407" y="4488862"/>
            <a:ext cx="3078866" cy="1433027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6D44EB4-2062-E20B-34C5-3769CB7B3D14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2EDEB107-1EC9-B890-E0F1-310099CA82C1}"/>
              </a:ext>
            </a:extLst>
          </p:cNvPr>
          <p:cNvSpPr/>
          <p:nvPr/>
        </p:nvSpPr>
        <p:spPr>
          <a:xfrm>
            <a:off x="655507" y="12658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 err="1">
                <a:solidFill>
                  <a:srgbClr val="74767D"/>
                </a:solidFill>
                <a:latin typeface="+mn-ea"/>
              </a:rPr>
              <a:t>머신러닝을</a:t>
            </a: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 활용한 </a:t>
            </a:r>
            <a:r>
              <a:rPr lang="en-US" altLang="ko-KR" sz="4450" dirty="0">
                <a:solidFill>
                  <a:srgbClr val="0070C0"/>
                </a:solidFill>
                <a:latin typeface="+mn-ea"/>
              </a:rPr>
              <a:t>DQN</a:t>
            </a:r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238DC9D5-70C2-3C82-40E5-DD4D09FF488C}"/>
              </a:ext>
            </a:extLst>
          </p:cNvPr>
          <p:cNvSpPr/>
          <p:nvPr/>
        </p:nvSpPr>
        <p:spPr>
          <a:xfrm>
            <a:off x="850592" y="2087595"/>
            <a:ext cx="10038139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4. 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학습결과</a:t>
            </a:r>
            <a:endParaRPr lang="en-US" sz="3550" dirty="0">
              <a:latin typeface="+mn-ea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E9BD18C-275E-AF97-C2D9-FE5F603BB0D3}"/>
              </a:ext>
            </a:extLst>
          </p:cNvPr>
          <p:cNvSpPr/>
          <p:nvPr/>
        </p:nvSpPr>
        <p:spPr>
          <a:xfrm>
            <a:off x="482262" y="2914054"/>
            <a:ext cx="5226833" cy="5164662"/>
          </a:xfrm>
          <a:prstGeom prst="roundRect">
            <a:avLst>
              <a:gd name="adj" fmla="val 3945"/>
            </a:avLst>
          </a:prstGeom>
          <a:solidFill>
            <a:srgbClr val="FBFCF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C598351-BAC5-FE54-0B14-6E19872E1DBB}"/>
              </a:ext>
            </a:extLst>
          </p:cNvPr>
          <p:cNvSpPr/>
          <p:nvPr/>
        </p:nvSpPr>
        <p:spPr>
          <a:xfrm>
            <a:off x="574484" y="3297631"/>
            <a:ext cx="52266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episode </a:t>
            </a:r>
            <a:r>
              <a:rPr lang="en-US" altLang="ko-KR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수에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따라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평균 </a:t>
            </a:r>
            <a:r>
              <a:rPr 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reward</a:t>
            </a:r>
            <a:r>
              <a:rPr lang="ko-KR" alt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가 증가하는 추세</a:t>
            </a:r>
            <a:endParaRPr lang="en-US" sz="1750" b="1" u="sng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spcBef>
                <a:spcPts val="600"/>
              </a:spcBef>
              <a:buNone/>
            </a:pP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→ 리워드가 높게 나오게 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DQN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모델이 학습</a:t>
            </a:r>
            <a:endParaRPr lang="en-US" altLang="ko-KR" sz="1750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pPr marL="0" indent="0" algn="l">
              <a:buNone/>
            </a:pPr>
            <a:endParaRPr lang="en-US" altLang="ko-KR" sz="1750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episode </a:t>
            </a:r>
            <a:r>
              <a:rPr lang="en-US" altLang="ko-KR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수에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en-US" altLang="ko-KR" sz="1750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따라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</a:t>
            </a:r>
            <a:r>
              <a:rPr lang="ko-KR" alt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입실론</a:t>
            </a:r>
            <a:r>
              <a:rPr lang="en-US" altLang="ko-KR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(</a:t>
            </a:r>
            <a:r>
              <a:rPr 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exploration) </a:t>
            </a:r>
            <a:r>
              <a:rPr lang="ko-KR" altLang="en-US" sz="1750" b="1" u="sng" dirty="0">
                <a:solidFill>
                  <a:srgbClr val="0000FF"/>
                </a:solidFill>
                <a:latin typeface="+mn-ea"/>
                <a:cs typeface="Roboto" pitchFamily="34" charset="-120"/>
              </a:rPr>
              <a:t>감소</a:t>
            </a:r>
            <a:endParaRPr lang="en-US" altLang="ko-KR" sz="1750" b="1" u="sng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>
              <a:spcBef>
                <a:spcPts val="600"/>
              </a:spcBef>
            </a:pP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→ 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Policy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가 안정화</a:t>
            </a:r>
            <a:endParaRPr lang="en-US" sz="1750" dirty="0">
              <a:latin typeface="+mn-ea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C3A6D085-A199-8559-2E1C-8F2D64C92912}"/>
              </a:ext>
            </a:extLst>
          </p:cNvPr>
          <p:cNvSpPr/>
          <p:nvPr/>
        </p:nvSpPr>
        <p:spPr>
          <a:xfrm>
            <a:off x="11189227" y="3009420"/>
            <a:ext cx="3090654" cy="4485445"/>
          </a:xfrm>
          <a:prstGeom prst="roundRect">
            <a:avLst>
              <a:gd name="adj" fmla="val 3945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E947951-1866-F5FD-934D-1B5ABAA1240C}"/>
              </a:ext>
            </a:extLst>
          </p:cNvPr>
          <p:cNvSpPr/>
          <p:nvPr/>
        </p:nvSpPr>
        <p:spPr>
          <a:xfrm>
            <a:off x="11330840" y="3640115"/>
            <a:ext cx="2949041" cy="269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단순히 </a:t>
            </a:r>
            <a:r>
              <a:rPr lang="ko-KR" altLang="en-US" sz="1750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갱신률을</a:t>
            </a:r>
            <a:r>
              <a:rPr lang="ko-KR" alt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높이기 위해</a:t>
            </a:r>
            <a:br>
              <a:rPr lang="en-US" altLang="ko-KR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ko-KR" altLang="en-US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무차별 발송을 늘리는 대신</a:t>
            </a:r>
            <a:r>
              <a:rPr lang="en-US" altLang="ko-KR" sz="1750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altLang="ko-KR" sz="1750" b="1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고객 특성</a:t>
            </a:r>
            <a:r>
              <a:rPr lang="en-US" altLang="ko-KR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/</a:t>
            </a: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만기시점</a:t>
            </a:r>
            <a:r>
              <a:rPr lang="en-US" altLang="ko-KR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/</a:t>
            </a: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이전반응</a:t>
            </a:r>
            <a:endParaRPr lang="en-US" altLang="ko-KR" sz="1750" b="1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등 을 고려하여 선택적 발송을 하는 것이 비용 효율적</a:t>
            </a:r>
            <a:endParaRPr lang="en-US" altLang="ko-KR" sz="1750" b="1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0000FF"/>
                </a:solidFill>
                <a:latin typeface="+mn-ea"/>
              </a:rPr>
              <a:t>DQN</a:t>
            </a:r>
            <a:r>
              <a:rPr lang="ko-KR" altLang="en-US" sz="2400" b="1" dirty="0">
                <a:solidFill>
                  <a:srgbClr val="0000FF"/>
                </a:solidFill>
                <a:latin typeface="+mn-ea"/>
              </a:rPr>
              <a:t>모델을 활용하자</a:t>
            </a:r>
            <a:r>
              <a:rPr lang="en-US" altLang="ko-KR" sz="2400" b="1" dirty="0">
                <a:solidFill>
                  <a:srgbClr val="0000FF"/>
                </a:solidFill>
                <a:latin typeface="+mn-ea"/>
              </a:rPr>
              <a:t>!</a:t>
            </a:r>
            <a:endParaRPr lang="en-US" sz="24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BE7E566-EF1A-A5A3-94A2-CE773013A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7" y="4973790"/>
            <a:ext cx="5035619" cy="2885419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1C9CDF6F-7AE1-1CF6-2DC7-F6FF38C48C0A}"/>
              </a:ext>
            </a:extLst>
          </p:cNvPr>
          <p:cNvSpPr/>
          <p:nvPr/>
        </p:nvSpPr>
        <p:spPr>
          <a:xfrm>
            <a:off x="655507" y="2773758"/>
            <a:ext cx="2480216" cy="354330"/>
          </a:xfrm>
          <a:prstGeom prst="rect">
            <a:avLst/>
          </a:prstGeom>
          <a:solidFill>
            <a:srgbClr val="1C3F99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① 학습 곡선</a:t>
            </a:r>
            <a:endParaRPr lang="en-US"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6FF9A9FF-DD53-8761-10D5-415DF168BA85}"/>
              </a:ext>
            </a:extLst>
          </p:cNvPr>
          <p:cNvSpPr/>
          <p:nvPr/>
        </p:nvSpPr>
        <p:spPr>
          <a:xfrm>
            <a:off x="5798400" y="2883574"/>
            <a:ext cx="5061389" cy="5164662"/>
          </a:xfrm>
          <a:prstGeom prst="roundRect">
            <a:avLst>
              <a:gd name="adj" fmla="val 3945"/>
            </a:avLst>
          </a:prstGeom>
          <a:solidFill>
            <a:srgbClr val="FBFCF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76BBB05A-68A2-88AA-E64E-360C01C4DB5C}"/>
              </a:ext>
            </a:extLst>
          </p:cNvPr>
          <p:cNvSpPr/>
          <p:nvPr/>
        </p:nvSpPr>
        <p:spPr>
          <a:xfrm>
            <a:off x="5971645" y="2743278"/>
            <a:ext cx="2480216" cy="354330"/>
          </a:xfrm>
          <a:prstGeom prst="rect">
            <a:avLst/>
          </a:prstGeom>
          <a:solidFill>
            <a:srgbClr val="1C3F99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② 평가 지표</a:t>
            </a:r>
            <a:endParaRPr lang="en-US"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B890CBF-7B41-59F3-11B8-496FBFF11097}"/>
              </a:ext>
            </a:extLst>
          </p:cNvPr>
          <p:cNvSpPr/>
          <p:nvPr/>
        </p:nvSpPr>
        <p:spPr>
          <a:xfrm>
            <a:off x="5959869" y="3214804"/>
            <a:ext cx="5070603" cy="266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Test-Policy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롤아웃에서 </a:t>
            </a: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평균 </a:t>
            </a:r>
            <a:r>
              <a:rPr lang="en-US" altLang="ko-KR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reward</a:t>
            </a: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가 </a:t>
            </a:r>
            <a:br>
              <a:rPr lang="en-US" altLang="ko-KR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</a:br>
            <a:r>
              <a:rPr lang="en-US" altLang="ko-KR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  Baseline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(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실제데이터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) </a:t>
            </a:r>
            <a:r>
              <a:rPr lang="ko-KR" altLang="en-US" sz="1750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대비 향상</a:t>
            </a:r>
            <a:endParaRPr lang="en-US" altLang="ko-KR" sz="1750" b="1" dirty="0">
              <a:solidFill>
                <a:srgbClr val="0000FF"/>
              </a:solidFill>
              <a:latin typeface="+mn-ea"/>
              <a:cs typeface="Roboto" pitchFamily="34" charset="-120"/>
            </a:endParaRPr>
          </a:p>
          <a:p>
            <a:pPr marL="0" indent="0" algn="l">
              <a:spcBef>
                <a:spcPts val="600"/>
              </a:spcBef>
              <a:buNone/>
            </a:pPr>
            <a:endParaRPr lang="en-US" sz="1750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pPr marL="0" indent="0" algn="l">
              <a:spcBef>
                <a:spcPts val="600"/>
              </a:spcBef>
              <a:buNone/>
            </a:pPr>
            <a:r>
              <a:rPr 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단 </a:t>
            </a:r>
            <a:r>
              <a:rPr lang="ko-KR" altLang="en-US" sz="1750" dirty="0" err="1">
                <a:solidFill>
                  <a:srgbClr val="C00000"/>
                </a:solidFill>
                <a:latin typeface="+mn-ea"/>
                <a:cs typeface="Roboto" pitchFamily="34" charset="-120"/>
              </a:rPr>
              <a:t>갱신률은</a:t>
            </a:r>
            <a:r>
              <a:rPr lang="ko-KR" alt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 </a:t>
            </a:r>
            <a:r>
              <a:rPr lang="en-US" altLang="ko-KR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Baseline</a:t>
            </a:r>
            <a:r>
              <a:rPr lang="ko-KR" altLang="en-US" sz="1750" dirty="0">
                <a:solidFill>
                  <a:srgbClr val="C00000"/>
                </a:solidFill>
                <a:latin typeface="+mn-ea"/>
                <a:cs typeface="Roboto" pitchFamily="34" charset="-120"/>
              </a:rPr>
              <a:t>대비 낮게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나타남</a:t>
            </a:r>
            <a:endParaRPr lang="en-US" altLang="ko-KR" sz="1750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pPr marL="0" indent="0" algn="l">
              <a:spcBef>
                <a:spcPts val="600"/>
              </a:spcBef>
              <a:buNone/>
            </a:pPr>
            <a:endParaRPr lang="en-US" sz="1750" dirty="0">
              <a:solidFill>
                <a:srgbClr val="15213F"/>
              </a:solidFill>
              <a:latin typeface="+mn-ea"/>
              <a:cs typeface="Roboto" pitchFamily="34" charset="-120"/>
            </a:endParaRP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→ </a:t>
            </a:r>
            <a:r>
              <a:rPr lang="ko-KR" altLang="en-US" sz="1750" u="sng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발송비용을 고려한 </a:t>
            </a:r>
            <a:r>
              <a:rPr lang="en-US" altLang="ko-KR" sz="1750" u="sng" dirty="0">
                <a:solidFill>
                  <a:srgbClr val="15213F"/>
                </a:solidFill>
                <a:latin typeface="+mn-ea"/>
                <a:cs typeface="Roboto" pitchFamily="34" charset="-120"/>
              </a:rPr>
              <a:t>Policy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가 일부 고객에게</a:t>
            </a:r>
            <a:b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 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발송을 줄여 전체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Reward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는 올리는 방향으로</a:t>
            </a:r>
            <a:b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  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진행되어 일부 갱신에 </a:t>
            </a:r>
            <a:r>
              <a:rPr lang="en-US" altLang="ko-KR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(-)</a:t>
            </a:r>
            <a:r>
              <a:rPr lang="ko-KR" altLang="en-US" sz="1750" dirty="0">
                <a:solidFill>
                  <a:srgbClr val="15213F"/>
                </a:solidFill>
                <a:latin typeface="+mn-ea"/>
                <a:cs typeface="Roboto" pitchFamily="34" charset="-120"/>
              </a:rPr>
              <a:t>영향</a:t>
            </a:r>
            <a:endParaRPr lang="en-US" sz="1750" dirty="0">
              <a:latin typeface="+mn-ea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ED79B7E-5C27-93EB-9CF1-53688F54D13B}"/>
              </a:ext>
            </a:extLst>
          </p:cNvPr>
          <p:cNvGraphicFramePr>
            <a:graphicFrameLocks noGrp="1"/>
          </p:cNvGraphicFramePr>
          <p:nvPr/>
        </p:nvGraphicFramePr>
        <p:xfrm>
          <a:off x="6060623" y="5966335"/>
          <a:ext cx="4477659" cy="1320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74820">
                  <a:extLst>
                    <a:ext uri="{9D8B030D-6E8A-4147-A177-3AD203B41FA5}">
                      <a16:colId xmlns:a16="http://schemas.microsoft.com/office/drawing/2014/main" val="618469142"/>
                    </a:ext>
                  </a:extLst>
                </a:gridCol>
                <a:gridCol w="1543281">
                  <a:extLst>
                    <a:ext uri="{9D8B030D-6E8A-4147-A177-3AD203B41FA5}">
                      <a16:colId xmlns:a16="http://schemas.microsoft.com/office/drawing/2014/main" val="259877249"/>
                    </a:ext>
                  </a:extLst>
                </a:gridCol>
                <a:gridCol w="1359558">
                  <a:extLst>
                    <a:ext uri="{9D8B030D-6E8A-4147-A177-3AD203B41FA5}">
                      <a16:colId xmlns:a16="http://schemas.microsoft.com/office/drawing/2014/main" val="2565011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Test-Policy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Baseline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506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평균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reward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7.1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-1.3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과도한문자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8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갱신률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62.7%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82.9%</a:t>
                      </a:r>
                      <a:endParaRPr lang="ko-KR" altLang="en-US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144"/>
                  </a:ext>
                </a:extLst>
              </a:tr>
            </a:tbl>
          </a:graphicData>
        </a:graphic>
      </p:graphicFrame>
      <p:sp>
        <p:nvSpPr>
          <p:cNvPr id="33" name="Text 3">
            <a:extLst>
              <a:ext uri="{FF2B5EF4-FFF2-40B4-BE49-F238E27FC236}">
                <a16:creationId xmlns:a16="http://schemas.microsoft.com/office/drawing/2014/main" id="{2542DB6F-84D2-E8B9-8601-4B1B2D993F9F}"/>
              </a:ext>
            </a:extLst>
          </p:cNvPr>
          <p:cNvSpPr/>
          <p:nvPr/>
        </p:nvSpPr>
        <p:spPr>
          <a:xfrm>
            <a:off x="11431900" y="2894527"/>
            <a:ext cx="2480216" cy="354330"/>
          </a:xfrm>
          <a:prstGeom prst="rect">
            <a:avLst/>
          </a:prstGeom>
          <a:solidFill>
            <a:srgbClr val="1C3F99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마케팅 시사점</a:t>
            </a:r>
            <a:r>
              <a:rPr lang="en-US" altLang="ko-KR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!</a:t>
            </a:r>
            <a:endParaRPr lang="en-US" sz="22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607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D3E2-5522-F4D3-61C9-9289449B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9FC4B453-F7D2-64DA-F833-08D9A084FF09}"/>
              </a:ext>
            </a:extLst>
          </p:cNvPr>
          <p:cNvSpPr/>
          <p:nvPr/>
        </p:nvSpPr>
        <p:spPr>
          <a:xfrm>
            <a:off x="543522" y="13099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74767D"/>
                </a:solidFill>
                <a:latin typeface="+mn-ea"/>
              </a:rPr>
              <a:t>프로젝트 결론</a:t>
            </a:r>
            <a:endParaRPr lang="en-US" sz="4450" dirty="0"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CBCEA26-58CF-082E-76B0-6F655734B4AD}"/>
              </a:ext>
            </a:extLst>
          </p:cNvPr>
          <p:cNvCxnSpPr>
            <a:cxnSpLocks/>
          </p:cNvCxnSpPr>
          <p:nvPr/>
        </p:nvCxnSpPr>
        <p:spPr>
          <a:xfrm>
            <a:off x="466522" y="2018705"/>
            <a:ext cx="137596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1E661F9D-3F76-4DA6-0974-4CFC3325FA94}"/>
              </a:ext>
            </a:extLst>
          </p:cNvPr>
          <p:cNvSpPr/>
          <p:nvPr/>
        </p:nvSpPr>
        <p:spPr>
          <a:xfrm>
            <a:off x="4555561" y="1309925"/>
            <a:ext cx="66134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Q-learning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과</a:t>
            </a:r>
            <a:r>
              <a:rPr 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 DQN</a:t>
            </a:r>
            <a:r>
              <a:rPr lang="ko-KR" altLang="en-US" sz="3550" dirty="0">
                <a:solidFill>
                  <a:srgbClr val="3257B8"/>
                </a:solidFill>
                <a:latin typeface="+mn-ea"/>
                <a:cs typeface="Roboto Slab" pitchFamily="34" charset="-120"/>
              </a:rPr>
              <a:t>의 시너지</a:t>
            </a:r>
            <a:endParaRPr lang="en-US" sz="3550" dirty="0">
              <a:latin typeface="+mn-e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A79107-8015-0792-8E33-086032CFB2D3}"/>
              </a:ext>
            </a:extLst>
          </p:cNvPr>
          <p:cNvSpPr/>
          <p:nvPr/>
        </p:nvSpPr>
        <p:spPr>
          <a:xfrm>
            <a:off x="793790" y="2562075"/>
            <a:ext cx="13327324" cy="4025027"/>
          </a:xfrm>
          <a:prstGeom prst="roundRect">
            <a:avLst>
              <a:gd name="adj" fmla="val 6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785B52-C6BD-7D0A-142D-6E3D1BAE2FC6}"/>
              </a:ext>
            </a:extLst>
          </p:cNvPr>
          <p:cNvSpPr/>
          <p:nvPr/>
        </p:nvSpPr>
        <p:spPr>
          <a:xfrm>
            <a:off x="801410" y="2569695"/>
            <a:ext cx="13319704" cy="8134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A8094B-429D-4F5C-817A-4141BEA637BC}"/>
              </a:ext>
            </a:extLst>
          </p:cNvPr>
          <p:cNvSpPr/>
          <p:nvPr/>
        </p:nvSpPr>
        <p:spPr>
          <a:xfrm>
            <a:off x="982980" y="2686138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ko-KR" alt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목적</a:t>
            </a:r>
            <a:endParaRPr lang="en-US" dirty="0">
              <a:latin typeface="+mn-e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39B9F-8680-858B-3B4E-B6ABD2D7B54E}"/>
              </a:ext>
            </a:extLst>
          </p:cNvPr>
          <p:cNvSpPr/>
          <p:nvPr/>
        </p:nvSpPr>
        <p:spPr>
          <a:xfrm>
            <a:off x="2191700" y="2686138"/>
            <a:ext cx="4840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언제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어떤 캠페인을 보내야 갱신율을 높일 수 있을까?</a:t>
            </a:r>
            <a:endParaRPr lang="en-US" b="1" dirty="0">
              <a:latin typeface="+mn-e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A8771C5-20A6-1F55-4353-0FD577D969F0}"/>
              </a:ext>
            </a:extLst>
          </p:cNvPr>
          <p:cNvSpPr/>
          <p:nvPr/>
        </p:nvSpPr>
        <p:spPr>
          <a:xfrm>
            <a:off x="7911991" y="2686138"/>
            <a:ext cx="603550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언제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얼마나 문자를 보내야 효율적으로 고객의 갱신/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클릭을</a:t>
            </a:r>
            <a:b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유도할 수 있을까?</a:t>
            </a:r>
            <a:endParaRPr lang="en-US" b="1" dirty="0">
              <a:latin typeface="+mn-ea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04B13E-556B-59CF-BB18-94247026CBB3}"/>
              </a:ext>
            </a:extLst>
          </p:cNvPr>
          <p:cNvSpPr/>
          <p:nvPr/>
        </p:nvSpPr>
        <p:spPr>
          <a:xfrm>
            <a:off x="801410" y="3383130"/>
            <a:ext cx="13319704" cy="813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CCE097-0BEE-8FD4-D24D-A5F6B0AFFA27}"/>
              </a:ext>
            </a:extLst>
          </p:cNvPr>
          <p:cNvSpPr/>
          <p:nvPr/>
        </p:nvSpPr>
        <p:spPr>
          <a:xfrm>
            <a:off x="982980" y="3499573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학습방법</a:t>
            </a:r>
            <a:endParaRPr lang="en-US" dirty="0">
              <a:latin typeface="+mn-ea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B2B5F6-FC10-A6B3-A3EF-B6B630E0A819}"/>
              </a:ext>
            </a:extLst>
          </p:cNvPr>
          <p:cNvSpPr/>
          <p:nvPr/>
        </p:nvSpPr>
        <p:spPr>
          <a:xfrm>
            <a:off x="2191700" y="3499573"/>
            <a:ext cx="4840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발송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데이터 기반의 Q-table 생성 (</a:t>
            </a:r>
            <a:r>
              <a:rPr lang="en-US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Off-Line 학습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b="1" dirty="0">
              <a:latin typeface="+mn-ea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4911BAF-ED5B-BD89-2A71-59AA2C7AF337}"/>
              </a:ext>
            </a:extLst>
          </p:cNvPr>
          <p:cNvSpPr/>
          <p:nvPr/>
        </p:nvSpPr>
        <p:spPr>
          <a:xfrm>
            <a:off x="7911991" y="3499573"/>
            <a:ext cx="603550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데이터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기반 시뮬레이터 형성 (문자발송/미발송, 클릭,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갱신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시뮬레이터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에피소드 기반 MLP 활용 (</a:t>
            </a:r>
            <a:r>
              <a:rPr lang="en-US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On-Line 학습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)</a:t>
            </a:r>
            <a:endParaRPr lang="en-US" b="1" dirty="0">
              <a:latin typeface="+mn-ea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2BFA6F9-25AE-76FB-6107-F976D8E3D0B8}"/>
              </a:ext>
            </a:extLst>
          </p:cNvPr>
          <p:cNvSpPr/>
          <p:nvPr/>
        </p:nvSpPr>
        <p:spPr>
          <a:xfrm>
            <a:off x="801410" y="4196565"/>
            <a:ext cx="13319704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CBE02F8-2E18-01B6-D86C-535B26C0A119}"/>
              </a:ext>
            </a:extLst>
          </p:cNvPr>
          <p:cNvSpPr/>
          <p:nvPr/>
        </p:nvSpPr>
        <p:spPr>
          <a:xfrm>
            <a:off x="982980" y="4313008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State</a:t>
            </a:r>
            <a:endParaRPr lang="en-US" dirty="0">
              <a:latin typeface="+mn-ea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B62216F-0C33-FB7F-5CC2-05411F59F49A}"/>
              </a:ext>
            </a:extLst>
          </p:cNvPr>
          <p:cNvSpPr/>
          <p:nvPr/>
        </p:nvSpPr>
        <p:spPr>
          <a:xfrm>
            <a:off x="2191700" y="4313008"/>
            <a:ext cx="4840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고객특성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잔여일수, 발송횟수, 발송간격, 이전캠페인</a:t>
            </a:r>
            <a:endParaRPr lang="en-US" b="1" dirty="0">
              <a:latin typeface="+mn-ea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13ACE18-75D9-4F55-BDA5-764B0A8D8342}"/>
              </a:ext>
            </a:extLst>
          </p:cNvPr>
          <p:cNvSpPr/>
          <p:nvPr/>
        </p:nvSpPr>
        <p:spPr>
          <a:xfrm>
            <a:off x="7911991" y="4313008"/>
            <a:ext cx="60355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고객특성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, 잔여일수, 발송횟수, 발송간격, 클릭여부</a:t>
            </a:r>
            <a:endParaRPr lang="en-US" b="1" dirty="0">
              <a:latin typeface="+mn-ea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146188D-DAA2-F0EF-5BB6-B6136920C615}"/>
              </a:ext>
            </a:extLst>
          </p:cNvPr>
          <p:cNvSpPr/>
          <p:nvPr/>
        </p:nvSpPr>
        <p:spPr>
          <a:xfrm>
            <a:off x="801410" y="4719726"/>
            <a:ext cx="13319704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D14DFBE-9B7E-25B6-509D-4E8F77A1728B}"/>
              </a:ext>
            </a:extLst>
          </p:cNvPr>
          <p:cNvSpPr/>
          <p:nvPr/>
        </p:nvSpPr>
        <p:spPr>
          <a:xfrm>
            <a:off x="982980" y="4836169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Action</a:t>
            </a:r>
            <a:endParaRPr lang="en-US" dirty="0">
              <a:latin typeface="+mn-ea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F6389ED-08B8-4A52-97D7-4A9C9D43F2A2}"/>
              </a:ext>
            </a:extLst>
          </p:cNvPr>
          <p:cNvSpPr/>
          <p:nvPr/>
        </p:nvSpPr>
        <p:spPr>
          <a:xfrm>
            <a:off x="2191700" y="4836169"/>
            <a:ext cx="4840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캠페인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발송 종류</a:t>
            </a:r>
            <a:endParaRPr lang="en-US" b="1" dirty="0">
              <a:latin typeface="+mn-ea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9CE696D-4C39-F883-10C8-B06CE33F926F}"/>
              </a:ext>
            </a:extLst>
          </p:cNvPr>
          <p:cNvSpPr/>
          <p:nvPr/>
        </p:nvSpPr>
        <p:spPr>
          <a:xfrm>
            <a:off x="7911991" y="4836169"/>
            <a:ext cx="60355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문자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발송 여부 (캠페인 종류와 무관)</a:t>
            </a:r>
            <a:endParaRPr lang="en-US" b="1" dirty="0">
              <a:latin typeface="+mn-ea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BADB7C77-1878-A7E5-C65B-F8C2DD434A3C}"/>
              </a:ext>
            </a:extLst>
          </p:cNvPr>
          <p:cNvSpPr/>
          <p:nvPr/>
        </p:nvSpPr>
        <p:spPr>
          <a:xfrm>
            <a:off x="801410" y="5242886"/>
            <a:ext cx="1269467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 sz="2400" dirty="0">
              <a:latin typeface="+mn-ea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6538175-325F-80E3-72B6-29846044251B}"/>
              </a:ext>
            </a:extLst>
          </p:cNvPr>
          <p:cNvSpPr/>
          <p:nvPr/>
        </p:nvSpPr>
        <p:spPr>
          <a:xfrm>
            <a:off x="982980" y="5359330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Reward</a:t>
            </a:r>
            <a:endParaRPr lang="en-US" dirty="0">
              <a:latin typeface="+mn-ea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98E1742-2BE7-F534-CD1D-6DC56E2580F6}"/>
              </a:ext>
            </a:extLst>
          </p:cNvPr>
          <p:cNvSpPr/>
          <p:nvPr/>
        </p:nvSpPr>
        <p:spPr>
          <a:xfrm>
            <a:off x="2191700" y="5359330"/>
            <a:ext cx="48404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갱신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여부 (발송 비용, 중복 발송 등 비용 포함)</a:t>
            </a:r>
            <a:endParaRPr lang="en-US" b="1" dirty="0">
              <a:latin typeface="+mn-ea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40319B6-3AF9-0B78-EA1A-C51E0ABA33C2}"/>
              </a:ext>
            </a:extLst>
          </p:cNvPr>
          <p:cNvSpPr/>
          <p:nvPr/>
        </p:nvSpPr>
        <p:spPr>
          <a:xfrm>
            <a:off x="7911991" y="5359330"/>
            <a:ext cx="60355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15213F"/>
                </a:solidFill>
                <a:latin typeface="+mn-ea"/>
                <a:cs typeface="Roboto" pitchFamily="34" charset="-120"/>
              </a:rPr>
              <a:t>갱신</a:t>
            </a: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여부 + 클릭 여부 – 발송 비용</a:t>
            </a:r>
            <a:endParaRPr lang="en-US" b="1" dirty="0">
              <a:latin typeface="+mn-ea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F265F5CE-8A5B-E7F9-7ABD-91ACE93506EF}"/>
              </a:ext>
            </a:extLst>
          </p:cNvPr>
          <p:cNvSpPr/>
          <p:nvPr/>
        </p:nvSpPr>
        <p:spPr>
          <a:xfrm>
            <a:off x="801410" y="5766047"/>
            <a:ext cx="13319704" cy="813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 sz="2400">
              <a:latin typeface="+mn-ea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450C743-6BC4-5654-B3DC-108EF8BCA1D1}"/>
              </a:ext>
            </a:extLst>
          </p:cNvPr>
          <p:cNvSpPr/>
          <p:nvPr/>
        </p:nvSpPr>
        <p:spPr>
          <a:xfrm>
            <a:off x="982980" y="5882490"/>
            <a:ext cx="22387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학습결과</a:t>
            </a:r>
            <a:endParaRPr lang="en-US" dirty="0">
              <a:latin typeface="+mn-ea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AF68B5C-E104-3535-66BF-BF144E3DDBC9}"/>
              </a:ext>
            </a:extLst>
          </p:cNvPr>
          <p:cNvSpPr/>
          <p:nvPr/>
        </p:nvSpPr>
        <p:spPr>
          <a:xfrm>
            <a:off x="2191699" y="5882490"/>
            <a:ext cx="5308697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50"/>
              </a:lnSpc>
            </a:pPr>
            <a:r>
              <a:rPr lang="en-US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갱신율을</a:t>
            </a:r>
            <a:r>
              <a:rPr lang="en-US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 높이는 방향으로 Q-table(Policy) </a:t>
            </a:r>
            <a:r>
              <a:rPr lang="en-US" b="1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생성</a:t>
            </a:r>
            <a:b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 (Test 결과 갱신률 82.9%)</a:t>
            </a:r>
            <a:endParaRPr lang="en-US" b="1" dirty="0">
              <a:latin typeface="+mn-ea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84CB7F0B-A48E-DA42-6E02-2C11781D9368}"/>
              </a:ext>
            </a:extLst>
          </p:cNvPr>
          <p:cNvSpPr/>
          <p:nvPr/>
        </p:nvSpPr>
        <p:spPr>
          <a:xfrm>
            <a:off x="7911991" y="5882490"/>
            <a:ext cx="603550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- </a:t>
            </a:r>
            <a:r>
              <a:rPr lang="en-US" b="1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발송</a:t>
            </a:r>
            <a:r>
              <a:rPr lang="en-US" b="1" dirty="0">
                <a:solidFill>
                  <a:srgbClr val="0000FF"/>
                </a:solidFill>
                <a:latin typeface="+mn-ea"/>
                <a:cs typeface="Roboto" pitchFamily="34" charset="-120"/>
              </a:rPr>
              <a:t> 비용을 고려하여 갱신/클릭을 높이는 Policy </a:t>
            </a:r>
            <a:r>
              <a:rPr lang="en-US" b="1" dirty="0" err="1">
                <a:solidFill>
                  <a:srgbClr val="0000FF"/>
                </a:solidFill>
                <a:latin typeface="+mn-ea"/>
                <a:cs typeface="Roboto" pitchFamily="34" charset="-120"/>
              </a:rPr>
              <a:t>생성</a:t>
            </a:r>
            <a:b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</a:br>
            <a:r>
              <a:rPr lang="en-US" b="1" dirty="0">
                <a:solidFill>
                  <a:srgbClr val="15213F"/>
                </a:solidFill>
                <a:latin typeface="+mn-ea"/>
                <a:cs typeface="Roboto" pitchFamily="34" charset="-120"/>
              </a:rPr>
              <a:t>   (Test 결과 갱신률 62.7%이나 평균 Reward는 높음)</a:t>
            </a:r>
            <a:endParaRPr lang="en-US" b="1" dirty="0">
              <a:latin typeface="+mn-ea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721EE3D-2ED5-A7F8-84C9-50CF662FBBBE}"/>
              </a:ext>
            </a:extLst>
          </p:cNvPr>
          <p:cNvSpPr/>
          <p:nvPr/>
        </p:nvSpPr>
        <p:spPr>
          <a:xfrm>
            <a:off x="1424495" y="6854024"/>
            <a:ext cx="11781410" cy="943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latin typeface="+mn-ea"/>
              </a:rPr>
              <a:t>[</a:t>
            </a:r>
            <a:r>
              <a:rPr lang="ko-KR" altLang="en-US" sz="2800" b="1" dirty="0">
                <a:latin typeface="+mn-ea"/>
              </a:rPr>
              <a:t>활용법</a:t>
            </a:r>
            <a:r>
              <a:rPr lang="en-US" altLang="ko-KR" sz="2800" b="1" dirty="0">
                <a:latin typeface="+mn-ea"/>
              </a:rPr>
              <a:t>] </a:t>
            </a:r>
            <a:r>
              <a:rPr lang="ko-KR" altLang="en-US" sz="2800" b="1" dirty="0">
                <a:latin typeface="+mn-ea"/>
              </a:rPr>
              <a:t>최적화된 고객소통 </a:t>
            </a:r>
            <a:r>
              <a:rPr lang="en-US" altLang="ko-KR" sz="2800" b="1" dirty="0">
                <a:latin typeface="+mn-ea"/>
              </a:rPr>
              <a:t>: DQN</a:t>
            </a:r>
            <a:r>
              <a:rPr lang="ko-KR" altLang="en-US" sz="2800" b="1" dirty="0">
                <a:latin typeface="+mn-ea"/>
              </a:rPr>
              <a:t>이 비용효율적으로 발송여부를 결정</a:t>
            </a:r>
            <a:br>
              <a:rPr lang="en-US" altLang="ko-KR" sz="2800" b="1" dirty="0">
                <a:latin typeface="+mn-ea"/>
              </a:rPr>
            </a:br>
            <a:r>
              <a:rPr lang="en-US" altLang="ko-KR" sz="2800" b="1" dirty="0">
                <a:latin typeface="+mn-ea"/>
              </a:rPr>
              <a:t>                                      Q-learning</a:t>
            </a:r>
            <a:r>
              <a:rPr lang="ko-KR" altLang="en-US" sz="2800" b="1" dirty="0">
                <a:latin typeface="+mn-ea"/>
              </a:rPr>
              <a:t>이 최적의 캠페인 종류를 선택</a:t>
            </a:r>
            <a:endParaRPr lang="en-US" sz="2800" b="1" dirty="0">
              <a:latin typeface="+mn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7263C7C0-0B5C-DB4B-F444-CD56752A373A}"/>
              </a:ext>
            </a:extLst>
          </p:cNvPr>
          <p:cNvSpPr/>
          <p:nvPr/>
        </p:nvSpPr>
        <p:spPr>
          <a:xfrm>
            <a:off x="3479732" y="2252893"/>
            <a:ext cx="2480216" cy="354330"/>
          </a:xfrm>
          <a:prstGeom prst="rect">
            <a:avLst/>
          </a:prstGeom>
          <a:solidFill>
            <a:srgbClr val="1C3F99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altLang="ko-KR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Q-learning</a:t>
            </a:r>
            <a:endParaRPr lang="en-US" sz="2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1139F66A-99E2-ACBA-A3A7-629B7391C5B9}"/>
              </a:ext>
            </a:extLst>
          </p:cNvPr>
          <p:cNvSpPr/>
          <p:nvPr/>
        </p:nvSpPr>
        <p:spPr>
          <a:xfrm>
            <a:off x="9465778" y="2266393"/>
            <a:ext cx="2480216" cy="354330"/>
          </a:xfrm>
          <a:prstGeom prst="rect">
            <a:avLst/>
          </a:prstGeom>
          <a:solidFill>
            <a:srgbClr val="1C3F99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+mn-ea"/>
                <a:cs typeface="Roboto Slab" pitchFamily="34" charset="-120"/>
              </a:rPr>
              <a:t>DQN</a:t>
            </a:r>
            <a:endParaRPr lang="en-US" sz="22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280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2006</Words>
  <Application>Microsoft Office PowerPoint</Application>
  <PresentationFormat>사용자 지정</PresentationFormat>
  <Paragraphs>373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Roboto</vt:lpstr>
      <vt:lpstr>Arial</vt:lpstr>
      <vt:lpstr>Montserrat Medium</vt:lpstr>
      <vt:lpstr>Inter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Jihae Chun</dc:creator>
  <cp:lastModifiedBy>Jihae Chun</cp:lastModifiedBy>
  <cp:revision>32</cp:revision>
  <dcterms:created xsi:type="dcterms:W3CDTF">2025-11-30T15:48:37Z</dcterms:created>
  <dcterms:modified xsi:type="dcterms:W3CDTF">2025-12-06T07:16:13Z</dcterms:modified>
</cp:coreProperties>
</file>